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7" r:id="rId4"/>
    <p:sldMasterId id="214748366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b06884822_0_1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" name="Google Shape;61;g3fb06884822_0_1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2" name="Google Shape;62;g3fb06884822_0_1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6884822_0_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g3fb06884822_0_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3" name="Google Shape;83;g3fb06884822_0_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9d632341f_3_5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g3f9d632341f_3_5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2" name="Google Shape;132;g3f9d632341f_3_5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9d632341f_3_1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g3f9d632341f_3_1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1" name="Google Shape;161;g3f9d632341f_3_1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9d632341f_3_15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g3f9d632341f_3_15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6" name="Google Shape;196;g3f9d632341f_3_15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9d632341f_3_19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3f9d632341f_3_19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3" name="Google Shape;233;g3f9d632341f_3_19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9d632341f_3_2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g3f9d632341f_3_2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6" name="Google Shape;256;g3f9d632341f_3_2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9d632341f_3_28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g3f9d632341f_3_28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1" name="Google Shape;281;g3f9d632341f_3_28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f9d632341f_3_3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g3f9d632341f_3_3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1" name="Google Shape;311;g3f9d632341f_3_3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f9d632341f_3_35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g3f9d632341f_3_35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8" name="Google Shape;348;g3f9d632341f_3_35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9d632341f_3_3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g3f9d632341f_3_3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87" name="Google Shape;387;g3f9d632341f_3_3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9d632341f_3_4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3" name="Google Shape;413;g3f9d632341f_3_4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14" name="Google Shape;414;g3f9d632341f_3_4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9d632341f_3_46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1" name="Google Shape;461;g3f9d632341f_3_46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462" name="Google Shape;462;g3f9d632341f_3_46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9d632341f_3_5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2" name="Google Shape;502;g3f9d632341f_3_5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03" name="Google Shape;503;g3f9d632341f_3_5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f9d632341f_3_5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0" name="Google Shape;520;g3f9d632341f_3_5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21" name="Google Shape;521;g3f9d632341f_3_5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f9d632341f_3_5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9" name="Google Shape;539;g3f9d632341f_3_5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0" name="Google Shape;540;g3f9d632341f_3_5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f9d632341f_3_57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4" name="Google Shape;554;g3f9d632341f_3_57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55" name="Google Shape;555;g3f9d632341f_3_57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f9d632341f_3_59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3" name="Google Shape;573;g3f9d632341f_3_59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74" name="Google Shape;574;g3f9d632341f_3_59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f9d632341f_3_6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2" name="Google Shape;592;g3f9d632341f_3_6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93" name="Google Shape;593;g3f9d632341f_3_6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f9d632341f_3_70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3" name="Google Shape;623;g3f9d632341f_3_70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24" name="Google Shape;624;g3f9d632341f_3_70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f9d632341f_3_67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2" name="Google Shape;652;g3f9d632341f_3_67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53" name="Google Shape;653;g3f9d632341f_3_67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f9d632341f_3_10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3" name="Google Shape;683;g3f9d632341f_3_10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684" name="Google Shape;684;g3f9d632341f_3_10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f9d632341f_3_76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2" name="Google Shape;712;g3f9d632341f_3_76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13" name="Google Shape;713;g3f9d632341f_3_76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f9d632341f_3_79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2" name="Google Shape;742;g3f9d632341f_3_79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43" name="Google Shape;743;g3f9d632341f_3_79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f9d632341f_3_9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3" name="Google Shape;773;g3f9d632341f_3_9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74" name="Google Shape;774;g3f9d632341f_3_9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f9d632341f_3_88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8" name="Google Shape;798;g3f9d632341f_3_88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99" name="Google Shape;799;g3f9d632341f_3_88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f9d632341f_3_96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3" name="Google Shape;823;g3f9d632341f_3_96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24" name="Google Shape;824;g3f9d632341f_3_96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f9d632341f_3_98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8" name="Google Shape;848;g3f9d632341f_3_98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49" name="Google Shape;849;g3f9d632341f_3_98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f9c4da53f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f9c4da53f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2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3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4">
  <p:cSld name="TITLE_5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5">
  <p:cSld name="TITLE_6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6">
  <p:cSld name="TITLE_7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2"/>
          <p:cNvSpPr/>
          <p:nvPr/>
        </p:nvSpPr>
        <p:spPr>
          <a:xfrm>
            <a:off x="6286500" y="85725"/>
            <a:ext cx="2857500" cy="5057700"/>
          </a:xfrm>
          <a:prstGeom prst="rect">
            <a:avLst/>
          </a:prstGeom>
          <a:solidFill>
            <a:srgbClr val="1D2E4B"/>
          </a:solidFill>
          <a:ln cap="flat" cmpd="sng" w="7150">
            <a:solidFill>
              <a:srgbClr val="1D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2"/>
          <p:cNvSpPr/>
          <p:nvPr/>
        </p:nvSpPr>
        <p:spPr>
          <a:xfrm>
            <a:off x="6286500" y="85725"/>
            <a:ext cx="100200" cy="50577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2"/>
          <p:cNvSpPr/>
          <p:nvPr/>
        </p:nvSpPr>
        <p:spPr>
          <a:xfrm>
            <a:off x="514350" y="557213"/>
            <a:ext cx="4143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50914"/>
                </a:solidFill>
              </a:rPr>
              <a:t>UCI DATA ANALYTICS FOR BUSINESS</a:t>
            </a:r>
            <a:endParaRPr sz="1100"/>
          </a:p>
        </p:txBody>
      </p:sp>
      <p:sp>
        <p:nvSpPr>
          <p:cNvPr id="68" name="Google Shape;68;p22"/>
          <p:cNvSpPr/>
          <p:nvPr/>
        </p:nvSpPr>
        <p:spPr>
          <a:xfrm>
            <a:off x="514350" y="985838"/>
            <a:ext cx="5358000" cy="1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72033"/>
                </a:solidFill>
              </a:rPr>
              <a:t>Netflix Customer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72033"/>
                </a:solidFill>
              </a:rPr>
              <a:t>Retention &amp; Growth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72033"/>
                </a:solidFill>
              </a:rPr>
              <a:t>Strategy</a:t>
            </a:r>
            <a:endParaRPr sz="1100"/>
          </a:p>
        </p:txBody>
      </p:sp>
      <p:sp>
        <p:nvSpPr>
          <p:cNvPr id="69" name="Google Shape;69;p22"/>
          <p:cNvSpPr/>
          <p:nvPr/>
        </p:nvSpPr>
        <p:spPr>
          <a:xfrm>
            <a:off x="542925" y="2757488"/>
            <a:ext cx="50007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526174"/>
                </a:solidFill>
              </a:rPr>
              <a:t>Using customer engagement data to reduce churn, identify upgrade opportunities, and guide future acquisition.</a:t>
            </a:r>
            <a:endParaRPr sz="1100"/>
          </a:p>
        </p:txBody>
      </p:sp>
      <p:sp>
        <p:nvSpPr>
          <p:cNvPr id="70" name="Google Shape;70;p22"/>
          <p:cNvSpPr/>
          <p:nvPr/>
        </p:nvSpPr>
        <p:spPr>
          <a:xfrm>
            <a:off x="514350" y="3679031"/>
            <a:ext cx="1071600" cy="357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2"/>
          <p:cNvSpPr/>
          <p:nvPr/>
        </p:nvSpPr>
        <p:spPr>
          <a:xfrm>
            <a:off x="514350" y="3879056"/>
            <a:ext cx="25005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72033"/>
                </a:solidFill>
              </a:rPr>
              <a:t>Noah Poremba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172033"/>
                </a:solidFill>
              </a:rPr>
              <a:t>Shohei Senda</a:t>
            </a:r>
            <a:endParaRPr sz="1100"/>
          </a:p>
        </p:txBody>
      </p:sp>
      <p:sp>
        <p:nvSpPr>
          <p:cNvPr id="72" name="Google Shape;72;p22"/>
          <p:cNvSpPr/>
          <p:nvPr/>
        </p:nvSpPr>
        <p:spPr>
          <a:xfrm>
            <a:off x="6772275" y="707231"/>
            <a:ext cx="1785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NETFLIX</a:t>
            </a:r>
            <a:endParaRPr sz="1100"/>
          </a:p>
        </p:txBody>
      </p:sp>
      <p:sp>
        <p:nvSpPr>
          <p:cNvPr id="73" name="Google Shape;73;p22"/>
          <p:cNvSpPr/>
          <p:nvPr/>
        </p:nvSpPr>
        <p:spPr>
          <a:xfrm>
            <a:off x="6700838" y="1400175"/>
            <a:ext cx="19290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</a:rPr>
              <a:t>DATA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</a:rPr>
              <a:t>STRATEGY</a:t>
            </a:r>
            <a:endParaRPr sz="1100"/>
          </a:p>
        </p:txBody>
      </p:sp>
      <p:sp>
        <p:nvSpPr>
          <p:cNvPr id="74" name="Google Shape;74;p22"/>
          <p:cNvSpPr/>
          <p:nvPr/>
        </p:nvSpPr>
        <p:spPr>
          <a:xfrm>
            <a:off x="6843713" y="2443163"/>
            <a:ext cx="1607400" cy="285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2"/>
          <p:cNvSpPr/>
          <p:nvPr/>
        </p:nvSpPr>
        <p:spPr>
          <a:xfrm>
            <a:off x="6786563" y="2757488"/>
            <a:ext cx="17145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9E2EF"/>
                </a:solidFill>
              </a:rPr>
              <a:t>Retention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9E2EF"/>
                </a:solidFill>
              </a:rPr>
              <a:t>Upgrade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9E2EF"/>
                </a:solidFill>
              </a:rPr>
              <a:t>Acquisition</a:t>
            </a:r>
            <a:endParaRPr sz="1100"/>
          </a:p>
        </p:txBody>
      </p:sp>
      <p:sp>
        <p:nvSpPr>
          <p:cNvPr id="76" name="Google Shape;76;p22"/>
          <p:cNvSpPr/>
          <p:nvPr/>
        </p:nvSpPr>
        <p:spPr>
          <a:xfrm>
            <a:off x="6722269" y="4429125"/>
            <a:ext cx="1857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CAPSTONE PRESENTATION</a:t>
            </a:r>
            <a:endParaRPr sz="1100"/>
          </a:p>
        </p:txBody>
      </p:sp>
      <p:sp>
        <p:nvSpPr>
          <p:cNvPr id="77" name="Google Shape;77;p22"/>
          <p:cNvSpPr/>
          <p:nvPr/>
        </p:nvSpPr>
        <p:spPr>
          <a:xfrm>
            <a:off x="6722269" y="4643438"/>
            <a:ext cx="1857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E2EF"/>
                </a:solidFill>
              </a:rPr>
              <a:t>2026</a:t>
            </a:r>
            <a:endParaRPr sz="1100"/>
          </a:p>
        </p:txBody>
      </p:sp>
      <p:sp>
        <p:nvSpPr>
          <p:cNvPr id="78" name="Google Shape;78;p22"/>
          <p:cNvSpPr txBox="1"/>
          <p:nvPr/>
        </p:nvSpPr>
        <p:spPr>
          <a:xfrm>
            <a:off x="3060425" y="4530200"/>
            <a:ext cx="3168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/>
              <a:t>https://www.kaggle.com/datasets/abdulwadood11220/netflix-customer-churn-dataset</a:t>
            </a:r>
            <a:endParaRPr sz="600"/>
          </a:p>
        </p:txBody>
      </p:sp>
      <p:sp>
        <p:nvSpPr>
          <p:cNvPr id="79" name="Google Shape;79;p22"/>
          <p:cNvSpPr txBox="1"/>
          <p:nvPr/>
        </p:nvSpPr>
        <p:spPr>
          <a:xfrm>
            <a:off x="5163250" y="4217025"/>
            <a:ext cx="97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Dataset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3"/>
          <p:cNvSpPr/>
          <p:nvPr/>
        </p:nvSpPr>
        <p:spPr>
          <a:xfrm>
            <a:off x="514350" y="342900"/>
            <a:ext cx="2571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DATA STRATEGY ROADMAP</a:t>
            </a:r>
            <a:endParaRPr sz="1100"/>
          </a:p>
        </p:txBody>
      </p:sp>
      <p:sp>
        <p:nvSpPr>
          <p:cNvPr id="87" name="Google Shape;87;p23"/>
          <p:cNvSpPr/>
          <p:nvPr/>
        </p:nvSpPr>
        <p:spPr>
          <a:xfrm>
            <a:off x="514350" y="557213"/>
            <a:ext cx="7072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Our Netflix strategy follows CRISP-DM</a:t>
            </a:r>
            <a:endParaRPr sz="1100"/>
          </a:p>
        </p:txBody>
      </p:sp>
      <p:sp>
        <p:nvSpPr>
          <p:cNvPr id="88" name="Google Shape;88;p23"/>
          <p:cNvSpPr/>
          <p:nvPr/>
        </p:nvSpPr>
        <p:spPr>
          <a:xfrm>
            <a:off x="514350" y="985838"/>
            <a:ext cx="7429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174"/>
                </a:solidFill>
              </a:rPr>
              <a:t>Each phase moves the project from a business problem to practical customer-growth actions.</a:t>
            </a:r>
            <a:endParaRPr sz="1100"/>
          </a:p>
        </p:txBody>
      </p:sp>
      <p:sp>
        <p:nvSpPr>
          <p:cNvPr id="89" name="Google Shape;89;p23"/>
          <p:cNvSpPr/>
          <p:nvPr/>
        </p:nvSpPr>
        <p:spPr>
          <a:xfrm>
            <a:off x="1764506" y="2100263"/>
            <a:ext cx="128700" cy="18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DD4DE"/>
          </a:solidFill>
          <a:ln cap="flat" cmpd="sng" w="7150">
            <a:solidFill>
              <a:srgbClr val="CDD4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3"/>
          <p:cNvSpPr/>
          <p:nvPr/>
        </p:nvSpPr>
        <p:spPr>
          <a:xfrm>
            <a:off x="3086100" y="2100263"/>
            <a:ext cx="128700" cy="18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DD4DE"/>
          </a:solidFill>
          <a:ln cap="flat" cmpd="sng" w="7150">
            <a:solidFill>
              <a:srgbClr val="CDD4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3"/>
          <p:cNvSpPr/>
          <p:nvPr/>
        </p:nvSpPr>
        <p:spPr>
          <a:xfrm>
            <a:off x="4407694" y="2100263"/>
            <a:ext cx="128700" cy="18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DD4DE"/>
          </a:solidFill>
          <a:ln cap="flat" cmpd="sng" w="7150">
            <a:solidFill>
              <a:srgbClr val="CDD4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3"/>
          <p:cNvSpPr/>
          <p:nvPr/>
        </p:nvSpPr>
        <p:spPr>
          <a:xfrm>
            <a:off x="5729288" y="2100263"/>
            <a:ext cx="128700" cy="18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DD4DE"/>
          </a:solidFill>
          <a:ln cap="flat" cmpd="sng" w="7150">
            <a:solidFill>
              <a:srgbClr val="CDD4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3"/>
          <p:cNvSpPr/>
          <p:nvPr/>
        </p:nvSpPr>
        <p:spPr>
          <a:xfrm>
            <a:off x="7050881" y="2100263"/>
            <a:ext cx="128700" cy="186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DD4DE"/>
          </a:solidFill>
          <a:ln cap="flat" cmpd="sng" w="7150">
            <a:solidFill>
              <a:srgbClr val="CDD4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3"/>
          <p:cNvSpPr/>
          <p:nvPr/>
        </p:nvSpPr>
        <p:spPr>
          <a:xfrm>
            <a:off x="514350" y="1557338"/>
            <a:ext cx="1250100" cy="1271700"/>
          </a:xfrm>
          <a:prstGeom prst="roundRect">
            <a:avLst>
              <a:gd fmla="val 6857" name="adj"/>
            </a:avLst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3"/>
          <p:cNvSpPr/>
          <p:nvPr/>
        </p:nvSpPr>
        <p:spPr>
          <a:xfrm>
            <a:off x="1835944" y="1557338"/>
            <a:ext cx="1250100" cy="1271700"/>
          </a:xfrm>
          <a:prstGeom prst="roundRect">
            <a:avLst>
              <a:gd fmla="val 6857" name="adj"/>
            </a:avLst>
          </a:prstGeom>
          <a:solidFill>
            <a:srgbClr val="BA0810"/>
          </a:solidFill>
          <a:ln cap="flat" cmpd="sng" w="7150">
            <a:solidFill>
              <a:srgbClr val="BA081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3"/>
          <p:cNvSpPr/>
          <p:nvPr/>
        </p:nvSpPr>
        <p:spPr>
          <a:xfrm>
            <a:off x="3157538" y="1557338"/>
            <a:ext cx="1250100" cy="1271700"/>
          </a:xfrm>
          <a:prstGeom prst="roundRect">
            <a:avLst>
              <a:gd fmla="val 6857" name="adj"/>
            </a:avLst>
          </a:prstGeom>
          <a:solidFill>
            <a:srgbClr val="8E1018"/>
          </a:solidFill>
          <a:ln cap="flat" cmpd="sng" w="7150">
            <a:solidFill>
              <a:srgbClr val="8E10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3"/>
          <p:cNvSpPr/>
          <p:nvPr/>
        </p:nvSpPr>
        <p:spPr>
          <a:xfrm>
            <a:off x="4479131" y="1557338"/>
            <a:ext cx="1250100" cy="1271700"/>
          </a:xfrm>
          <a:prstGeom prst="roundRect">
            <a:avLst>
              <a:gd fmla="val 6857" name="adj"/>
            </a:avLst>
          </a:prstGeom>
          <a:solidFill>
            <a:srgbClr val="233553"/>
          </a:solidFill>
          <a:ln cap="flat" cmpd="sng" w="7150">
            <a:solidFill>
              <a:srgbClr val="2335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/>
          <p:nvPr/>
        </p:nvSpPr>
        <p:spPr>
          <a:xfrm>
            <a:off x="5800725" y="1557338"/>
            <a:ext cx="1250100" cy="1271700"/>
          </a:xfrm>
          <a:prstGeom prst="roundRect">
            <a:avLst>
              <a:gd fmla="val 6857" name="adj"/>
            </a:avLst>
          </a:prstGeom>
          <a:solidFill>
            <a:srgbClr val="2F4B72"/>
          </a:solidFill>
          <a:ln cap="flat" cmpd="sng" w="7150">
            <a:solidFill>
              <a:srgbClr val="2F4B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3"/>
          <p:cNvSpPr/>
          <p:nvPr/>
        </p:nvSpPr>
        <p:spPr>
          <a:xfrm>
            <a:off x="7122319" y="1557338"/>
            <a:ext cx="1250100" cy="1271700"/>
          </a:xfrm>
          <a:prstGeom prst="roundRect">
            <a:avLst>
              <a:gd fmla="val 6857" name="adj"/>
            </a:avLst>
          </a:prstGeom>
          <a:solidFill>
            <a:srgbClr val="40658E"/>
          </a:solidFill>
          <a:ln cap="flat" cmpd="sng" w="7150">
            <a:solidFill>
              <a:srgbClr val="4065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3"/>
          <p:cNvSpPr/>
          <p:nvPr/>
        </p:nvSpPr>
        <p:spPr>
          <a:xfrm>
            <a:off x="635794" y="1678781"/>
            <a:ext cx="2145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1</a:t>
            </a:r>
            <a:endParaRPr sz="1100"/>
          </a:p>
        </p:txBody>
      </p:sp>
      <p:sp>
        <p:nvSpPr>
          <p:cNvPr id="101" name="Google Shape;101;p23"/>
          <p:cNvSpPr/>
          <p:nvPr/>
        </p:nvSpPr>
        <p:spPr>
          <a:xfrm>
            <a:off x="585788" y="1950244"/>
            <a:ext cx="11073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Business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Understanding</a:t>
            </a:r>
            <a:endParaRPr sz="1100"/>
          </a:p>
        </p:txBody>
      </p:sp>
      <p:sp>
        <p:nvSpPr>
          <p:cNvPr id="102" name="Google Shape;102;p23"/>
          <p:cNvSpPr/>
          <p:nvPr/>
        </p:nvSpPr>
        <p:spPr>
          <a:xfrm>
            <a:off x="600075" y="2400300"/>
            <a:ext cx="1078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Retain, upgrade,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and acquire</a:t>
            </a:r>
            <a:endParaRPr sz="1100"/>
          </a:p>
        </p:txBody>
      </p:sp>
      <p:sp>
        <p:nvSpPr>
          <p:cNvPr id="103" name="Google Shape;103;p23"/>
          <p:cNvSpPr/>
          <p:nvPr/>
        </p:nvSpPr>
        <p:spPr>
          <a:xfrm>
            <a:off x="1957388" y="1678781"/>
            <a:ext cx="2145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2</a:t>
            </a:r>
            <a:endParaRPr sz="1100"/>
          </a:p>
        </p:txBody>
      </p:sp>
      <p:sp>
        <p:nvSpPr>
          <p:cNvPr id="104" name="Google Shape;104;p23"/>
          <p:cNvSpPr/>
          <p:nvPr/>
        </p:nvSpPr>
        <p:spPr>
          <a:xfrm>
            <a:off x="1907381" y="1950244"/>
            <a:ext cx="11073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Data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Understanding</a:t>
            </a:r>
            <a:endParaRPr sz="1100"/>
          </a:p>
        </p:txBody>
      </p:sp>
      <p:sp>
        <p:nvSpPr>
          <p:cNvPr id="105" name="Google Shape;105;p23"/>
          <p:cNvSpPr/>
          <p:nvPr/>
        </p:nvSpPr>
        <p:spPr>
          <a:xfrm>
            <a:off x="1921669" y="2400300"/>
            <a:ext cx="1078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Analyze 5,000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subscribers</a:t>
            </a:r>
            <a:endParaRPr sz="1100"/>
          </a:p>
        </p:txBody>
      </p:sp>
      <p:sp>
        <p:nvSpPr>
          <p:cNvPr id="106" name="Google Shape;106;p23"/>
          <p:cNvSpPr/>
          <p:nvPr/>
        </p:nvSpPr>
        <p:spPr>
          <a:xfrm>
            <a:off x="3278981" y="1678781"/>
            <a:ext cx="2145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3</a:t>
            </a:r>
            <a:endParaRPr sz="1100"/>
          </a:p>
        </p:txBody>
      </p:sp>
      <p:sp>
        <p:nvSpPr>
          <p:cNvPr id="107" name="Google Shape;107;p23"/>
          <p:cNvSpPr/>
          <p:nvPr/>
        </p:nvSpPr>
        <p:spPr>
          <a:xfrm>
            <a:off x="3228975" y="1950244"/>
            <a:ext cx="11073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Data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Preparation</a:t>
            </a:r>
            <a:endParaRPr sz="1100"/>
          </a:p>
        </p:txBody>
      </p:sp>
      <p:sp>
        <p:nvSpPr>
          <p:cNvPr id="108" name="Google Shape;108;p23"/>
          <p:cNvSpPr/>
          <p:nvPr/>
        </p:nvSpPr>
        <p:spPr>
          <a:xfrm>
            <a:off x="3243263" y="2400300"/>
            <a:ext cx="1078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Clean data and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engineer features</a:t>
            </a:r>
            <a:endParaRPr sz="1100"/>
          </a:p>
        </p:txBody>
      </p:sp>
      <p:sp>
        <p:nvSpPr>
          <p:cNvPr id="109" name="Google Shape;109;p23"/>
          <p:cNvSpPr/>
          <p:nvPr/>
        </p:nvSpPr>
        <p:spPr>
          <a:xfrm>
            <a:off x="4600575" y="1678781"/>
            <a:ext cx="2145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4</a:t>
            </a:r>
            <a:endParaRPr sz="1100"/>
          </a:p>
        </p:txBody>
      </p:sp>
      <p:sp>
        <p:nvSpPr>
          <p:cNvPr id="110" name="Google Shape;110;p23"/>
          <p:cNvSpPr/>
          <p:nvPr/>
        </p:nvSpPr>
        <p:spPr>
          <a:xfrm>
            <a:off x="4550569" y="1950244"/>
            <a:ext cx="11073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Modeling</a:t>
            </a:r>
            <a:endParaRPr sz="1100"/>
          </a:p>
        </p:txBody>
      </p:sp>
      <p:sp>
        <p:nvSpPr>
          <p:cNvPr id="111" name="Google Shape;111;p23"/>
          <p:cNvSpPr/>
          <p:nvPr/>
        </p:nvSpPr>
        <p:spPr>
          <a:xfrm>
            <a:off x="4564856" y="2400300"/>
            <a:ext cx="1078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Predict customer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churn risk</a:t>
            </a:r>
            <a:endParaRPr sz="1100"/>
          </a:p>
        </p:txBody>
      </p:sp>
      <p:sp>
        <p:nvSpPr>
          <p:cNvPr id="112" name="Google Shape;112;p23"/>
          <p:cNvSpPr/>
          <p:nvPr/>
        </p:nvSpPr>
        <p:spPr>
          <a:xfrm>
            <a:off x="5922169" y="1678781"/>
            <a:ext cx="2145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5</a:t>
            </a:r>
            <a:endParaRPr sz="1100"/>
          </a:p>
        </p:txBody>
      </p:sp>
      <p:sp>
        <p:nvSpPr>
          <p:cNvPr id="113" name="Google Shape;113;p23"/>
          <p:cNvSpPr/>
          <p:nvPr/>
        </p:nvSpPr>
        <p:spPr>
          <a:xfrm>
            <a:off x="5872163" y="1950244"/>
            <a:ext cx="11073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Evaluation</a:t>
            </a:r>
            <a:endParaRPr sz="1100"/>
          </a:p>
        </p:txBody>
      </p:sp>
      <p:sp>
        <p:nvSpPr>
          <p:cNvPr id="114" name="Google Shape;114;p23"/>
          <p:cNvSpPr/>
          <p:nvPr/>
        </p:nvSpPr>
        <p:spPr>
          <a:xfrm>
            <a:off x="5886450" y="2400300"/>
            <a:ext cx="1078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Select the final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model</a:t>
            </a:r>
            <a:endParaRPr sz="1100"/>
          </a:p>
        </p:txBody>
      </p:sp>
      <p:sp>
        <p:nvSpPr>
          <p:cNvPr id="115" name="Google Shape;115;p23"/>
          <p:cNvSpPr/>
          <p:nvPr/>
        </p:nvSpPr>
        <p:spPr>
          <a:xfrm>
            <a:off x="7243763" y="1678781"/>
            <a:ext cx="2145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6</a:t>
            </a:r>
            <a:endParaRPr sz="1100"/>
          </a:p>
        </p:txBody>
      </p:sp>
      <p:sp>
        <p:nvSpPr>
          <p:cNvPr id="116" name="Google Shape;116;p23"/>
          <p:cNvSpPr/>
          <p:nvPr/>
        </p:nvSpPr>
        <p:spPr>
          <a:xfrm>
            <a:off x="7193756" y="1950244"/>
            <a:ext cx="11073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Deployment</a:t>
            </a:r>
            <a:endParaRPr sz="1100"/>
          </a:p>
        </p:txBody>
      </p:sp>
      <p:sp>
        <p:nvSpPr>
          <p:cNvPr id="117" name="Google Shape;117;p23"/>
          <p:cNvSpPr/>
          <p:nvPr/>
        </p:nvSpPr>
        <p:spPr>
          <a:xfrm>
            <a:off x="7208044" y="2400300"/>
            <a:ext cx="10788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C</a:t>
            </a:r>
            <a:r>
              <a:rPr lang="en" sz="800">
                <a:solidFill>
                  <a:srgbClr val="FFFFFF"/>
                </a:solidFill>
              </a:rPr>
              <a:t>ampaigns</a:t>
            </a:r>
            <a:endParaRPr sz="1100"/>
          </a:p>
        </p:txBody>
      </p:sp>
      <p:sp>
        <p:nvSpPr>
          <p:cNvPr id="118" name="Google Shape;118;p23"/>
          <p:cNvSpPr/>
          <p:nvPr/>
        </p:nvSpPr>
        <p:spPr>
          <a:xfrm>
            <a:off x="514350" y="3343275"/>
            <a:ext cx="3900600" cy="285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3"/>
          <p:cNvSpPr/>
          <p:nvPr/>
        </p:nvSpPr>
        <p:spPr>
          <a:xfrm>
            <a:off x="514350" y="3500438"/>
            <a:ext cx="39006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THE PLAN</a:t>
            </a:r>
            <a:endParaRPr sz="1100"/>
          </a:p>
        </p:txBody>
      </p:sp>
      <p:sp>
        <p:nvSpPr>
          <p:cNvPr id="120" name="Google Shape;120;p23"/>
          <p:cNvSpPr/>
          <p:nvPr/>
        </p:nvSpPr>
        <p:spPr>
          <a:xfrm>
            <a:off x="514350" y="3714750"/>
            <a:ext cx="38289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26174"/>
                </a:solidFill>
              </a:rPr>
              <a:t>Define the business need, understand the customer data, and prepare it for analysis.</a:t>
            </a:r>
            <a:endParaRPr sz="1100"/>
          </a:p>
        </p:txBody>
      </p:sp>
      <p:sp>
        <p:nvSpPr>
          <p:cNvPr id="121" name="Google Shape;121;p23"/>
          <p:cNvSpPr/>
          <p:nvPr/>
        </p:nvSpPr>
        <p:spPr>
          <a:xfrm>
            <a:off x="4529138" y="3343275"/>
            <a:ext cx="2557500" cy="285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3"/>
          <p:cNvSpPr/>
          <p:nvPr/>
        </p:nvSpPr>
        <p:spPr>
          <a:xfrm>
            <a:off x="4529138" y="3500438"/>
            <a:ext cx="25575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THE ANALYSIS</a:t>
            </a:r>
            <a:endParaRPr sz="1100"/>
          </a:p>
        </p:txBody>
      </p:sp>
      <p:sp>
        <p:nvSpPr>
          <p:cNvPr id="123" name="Google Shape;123;p23"/>
          <p:cNvSpPr/>
          <p:nvPr/>
        </p:nvSpPr>
        <p:spPr>
          <a:xfrm>
            <a:off x="4529138" y="3714750"/>
            <a:ext cx="24861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26174"/>
                </a:solidFill>
              </a:rPr>
              <a:t>Use descriptive, diagnostic, predictive, and prescriptive analytics.</a:t>
            </a:r>
            <a:endParaRPr sz="1100"/>
          </a:p>
        </p:txBody>
      </p:sp>
      <p:sp>
        <p:nvSpPr>
          <p:cNvPr id="124" name="Google Shape;124;p23"/>
          <p:cNvSpPr/>
          <p:nvPr/>
        </p:nvSpPr>
        <p:spPr>
          <a:xfrm>
            <a:off x="7200900" y="3343275"/>
            <a:ext cx="1428900" cy="285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/>
          <p:nvPr/>
        </p:nvSpPr>
        <p:spPr>
          <a:xfrm>
            <a:off x="7200900" y="3500438"/>
            <a:ext cx="14289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THE REPORT</a:t>
            </a:r>
            <a:endParaRPr sz="1100"/>
          </a:p>
        </p:txBody>
      </p:sp>
      <p:sp>
        <p:nvSpPr>
          <p:cNvPr id="126" name="Google Shape;126;p23"/>
          <p:cNvSpPr/>
          <p:nvPr/>
        </p:nvSpPr>
        <p:spPr>
          <a:xfrm>
            <a:off x="7200900" y="3714750"/>
            <a:ext cx="13572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26174"/>
                </a:solidFill>
              </a:rPr>
              <a:t>Tell the story and monitor action.</a:t>
            </a:r>
            <a:endParaRPr sz="1100"/>
          </a:p>
        </p:txBody>
      </p:sp>
      <p:sp>
        <p:nvSpPr>
          <p:cNvPr id="127" name="Google Shape;127;p23"/>
          <p:cNvSpPr/>
          <p:nvPr/>
        </p:nvSpPr>
        <p:spPr>
          <a:xfrm>
            <a:off x="514350" y="4772025"/>
            <a:ext cx="3571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A8798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128" name="Google Shape;128;p23"/>
          <p:cNvSpPr/>
          <p:nvPr/>
        </p:nvSpPr>
        <p:spPr>
          <a:xfrm>
            <a:off x="8372475" y="4743450"/>
            <a:ext cx="257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A8798"/>
                </a:solidFill>
              </a:rPr>
              <a:t>2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4"/>
          <p:cNvSpPr/>
          <p:nvPr/>
        </p:nvSpPr>
        <p:spPr>
          <a:xfrm>
            <a:off x="6286500" y="85725"/>
            <a:ext cx="2857500" cy="5057700"/>
          </a:xfrm>
          <a:prstGeom prst="rect">
            <a:avLst/>
          </a:prstGeom>
          <a:solidFill>
            <a:srgbClr val="1D2E4B"/>
          </a:solidFill>
          <a:ln cap="flat" cmpd="sng" w="7150">
            <a:solidFill>
              <a:srgbClr val="1D2E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"/>
          <p:cNvSpPr/>
          <p:nvPr/>
        </p:nvSpPr>
        <p:spPr>
          <a:xfrm>
            <a:off x="6286500" y="85725"/>
            <a:ext cx="100200" cy="50577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4"/>
          <p:cNvSpPr/>
          <p:nvPr/>
        </p:nvSpPr>
        <p:spPr>
          <a:xfrm>
            <a:off x="514350" y="442913"/>
            <a:ext cx="30003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BUSINESS UNDERSTANDING</a:t>
            </a:r>
            <a:endParaRPr sz="1100"/>
          </a:p>
        </p:txBody>
      </p:sp>
      <p:sp>
        <p:nvSpPr>
          <p:cNvPr id="138" name="Google Shape;138;p24"/>
          <p:cNvSpPr/>
          <p:nvPr/>
        </p:nvSpPr>
        <p:spPr>
          <a:xfrm>
            <a:off x="514350" y="750094"/>
            <a:ext cx="54291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Customer churn threatens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recurring revenue and growth</a:t>
            </a:r>
            <a:endParaRPr sz="1100"/>
          </a:p>
        </p:txBody>
      </p:sp>
      <p:sp>
        <p:nvSpPr>
          <p:cNvPr id="139" name="Google Shape;139;p24"/>
          <p:cNvSpPr/>
          <p:nvPr/>
        </p:nvSpPr>
        <p:spPr>
          <a:xfrm>
            <a:off x="542925" y="1700213"/>
            <a:ext cx="5000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26174"/>
                </a:solidFill>
              </a:rPr>
              <a:t>Streaming competition creates pressure to retain subscribers while expanding customer value.</a:t>
            </a:r>
            <a:endParaRPr sz="1100"/>
          </a:p>
        </p:txBody>
      </p:sp>
      <p:sp>
        <p:nvSpPr>
          <p:cNvPr id="140" name="Google Shape;140;p24"/>
          <p:cNvSpPr/>
          <p:nvPr/>
        </p:nvSpPr>
        <p:spPr>
          <a:xfrm>
            <a:off x="557213" y="2428875"/>
            <a:ext cx="3573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50914"/>
                </a:solidFill>
              </a:rPr>
              <a:t>01</a:t>
            </a:r>
            <a:endParaRPr sz="1100"/>
          </a:p>
        </p:txBody>
      </p:sp>
      <p:sp>
        <p:nvSpPr>
          <p:cNvPr id="141" name="Google Shape;141;p24"/>
          <p:cNvSpPr/>
          <p:nvPr/>
        </p:nvSpPr>
        <p:spPr>
          <a:xfrm>
            <a:off x="1014413" y="2414588"/>
            <a:ext cx="45720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72033"/>
                </a:solidFill>
              </a:rPr>
              <a:t>Constant competitive pressure</a:t>
            </a:r>
            <a:endParaRPr sz="1100"/>
          </a:p>
        </p:txBody>
      </p:sp>
      <p:sp>
        <p:nvSpPr>
          <p:cNvPr id="142" name="Google Shape;142;p24"/>
          <p:cNvSpPr/>
          <p:nvPr/>
        </p:nvSpPr>
        <p:spPr>
          <a:xfrm>
            <a:off x="1014413" y="2700338"/>
            <a:ext cx="4643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26174"/>
                </a:solidFill>
              </a:rPr>
              <a:t>Subscribers can choose among many streaming services and may switch when another platform appears more valuable.</a:t>
            </a:r>
            <a:endParaRPr sz="1100"/>
          </a:p>
        </p:txBody>
      </p:sp>
      <p:sp>
        <p:nvSpPr>
          <p:cNvPr id="143" name="Google Shape;143;p24"/>
          <p:cNvSpPr/>
          <p:nvPr/>
        </p:nvSpPr>
        <p:spPr>
          <a:xfrm>
            <a:off x="1014413" y="3171825"/>
            <a:ext cx="4429200" cy="14400"/>
          </a:xfrm>
          <a:prstGeom prst="rect">
            <a:avLst/>
          </a:prstGeom>
          <a:solidFill>
            <a:srgbClr val="D7DDE5"/>
          </a:solidFill>
          <a:ln cap="flat" cmpd="sng" w="7150">
            <a:solidFill>
              <a:srgbClr val="D7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4"/>
          <p:cNvSpPr/>
          <p:nvPr/>
        </p:nvSpPr>
        <p:spPr>
          <a:xfrm>
            <a:off x="557213" y="3250406"/>
            <a:ext cx="3573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50914"/>
                </a:solidFill>
              </a:rPr>
              <a:t>02</a:t>
            </a:r>
            <a:endParaRPr sz="1100"/>
          </a:p>
        </p:txBody>
      </p:sp>
      <p:sp>
        <p:nvSpPr>
          <p:cNvPr id="145" name="Google Shape;145;p24"/>
          <p:cNvSpPr/>
          <p:nvPr/>
        </p:nvSpPr>
        <p:spPr>
          <a:xfrm>
            <a:off x="1014413" y="3236119"/>
            <a:ext cx="45720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72033"/>
                </a:solidFill>
              </a:rPr>
              <a:t>Cancellations reduce revenue</a:t>
            </a:r>
            <a:endParaRPr sz="1100"/>
          </a:p>
        </p:txBody>
      </p:sp>
      <p:sp>
        <p:nvSpPr>
          <p:cNvPr id="146" name="Google Shape;146;p24"/>
          <p:cNvSpPr/>
          <p:nvPr/>
        </p:nvSpPr>
        <p:spPr>
          <a:xfrm>
            <a:off x="1014413" y="3521869"/>
            <a:ext cx="4643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26174"/>
                </a:solidFill>
              </a:rPr>
              <a:t>When a customer churns, Netflix loses recurring monthly revenue and may spend more to replace that subscriber.</a:t>
            </a:r>
            <a:endParaRPr sz="1100"/>
          </a:p>
        </p:txBody>
      </p:sp>
      <p:sp>
        <p:nvSpPr>
          <p:cNvPr id="147" name="Google Shape;147;p24"/>
          <p:cNvSpPr/>
          <p:nvPr/>
        </p:nvSpPr>
        <p:spPr>
          <a:xfrm>
            <a:off x="1014413" y="3993356"/>
            <a:ext cx="4429200" cy="14400"/>
          </a:xfrm>
          <a:prstGeom prst="rect">
            <a:avLst/>
          </a:prstGeom>
          <a:solidFill>
            <a:srgbClr val="D7DDE5"/>
          </a:solidFill>
          <a:ln cap="flat" cmpd="sng" w="7150">
            <a:solidFill>
              <a:srgbClr val="D7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4"/>
          <p:cNvSpPr/>
          <p:nvPr/>
        </p:nvSpPr>
        <p:spPr>
          <a:xfrm>
            <a:off x="557213" y="4071938"/>
            <a:ext cx="3573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50914"/>
                </a:solidFill>
              </a:rPr>
              <a:t>03</a:t>
            </a:r>
            <a:endParaRPr sz="1100"/>
          </a:p>
        </p:txBody>
      </p:sp>
      <p:sp>
        <p:nvSpPr>
          <p:cNvPr id="149" name="Google Shape;149;p24"/>
          <p:cNvSpPr/>
          <p:nvPr/>
        </p:nvSpPr>
        <p:spPr>
          <a:xfrm>
            <a:off x="1014413" y="4057650"/>
            <a:ext cx="45720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72033"/>
                </a:solidFill>
              </a:rPr>
              <a:t>Data must guide growth actions</a:t>
            </a:r>
            <a:endParaRPr sz="1100"/>
          </a:p>
        </p:txBody>
      </p:sp>
      <p:sp>
        <p:nvSpPr>
          <p:cNvPr id="150" name="Google Shape;150;p24"/>
          <p:cNvSpPr/>
          <p:nvPr/>
        </p:nvSpPr>
        <p:spPr>
          <a:xfrm>
            <a:off x="1014413" y="4343400"/>
            <a:ext cx="4643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26174"/>
                </a:solidFill>
              </a:rPr>
              <a:t>Customer data can help identify churn risk and highlight retention and membership-upgrade opportunities.</a:t>
            </a:r>
            <a:endParaRPr sz="1100"/>
          </a:p>
        </p:txBody>
      </p:sp>
      <p:sp>
        <p:nvSpPr>
          <p:cNvPr id="151" name="Google Shape;151;p24"/>
          <p:cNvSpPr/>
          <p:nvPr/>
        </p:nvSpPr>
        <p:spPr>
          <a:xfrm>
            <a:off x="1014413" y="4814888"/>
            <a:ext cx="4429200" cy="14400"/>
          </a:xfrm>
          <a:prstGeom prst="rect">
            <a:avLst/>
          </a:prstGeom>
          <a:solidFill>
            <a:srgbClr val="D7DDE5"/>
          </a:solidFill>
          <a:ln cap="flat" cmpd="sng" w="7150">
            <a:solidFill>
              <a:srgbClr val="D7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4"/>
          <p:cNvSpPr/>
          <p:nvPr/>
        </p:nvSpPr>
        <p:spPr>
          <a:xfrm>
            <a:off x="6772275" y="707231"/>
            <a:ext cx="17859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NETFLIX</a:t>
            </a:r>
            <a:endParaRPr sz="1100"/>
          </a:p>
        </p:txBody>
      </p:sp>
      <p:sp>
        <p:nvSpPr>
          <p:cNvPr id="153" name="Google Shape;153;p24"/>
          <p:cNvSpPr/>
          <p:nvPr/>
        </p:nvSpPr>
        <p:spPr>
          <a:xfrm>
            <a:off x="6700838" y="1357313"/>
            <a:ext cx="19290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FF"/>
                </a:solidFill>
              </a:rPr>
              <a:t>THE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FF"/>
                </a:solidFill>
              </a:rPr>
              <a:t>BUSINESS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FF"/>
                </a:solidFill>
              </a:rPr>
              <a:t>PROBLEM</a:t>
            </a:r>
            <a:endParaRPr sz="1100"/>
          </a:p>
        </p:txBody>
      </p:sp>
      <p:sp>
        <p:nvSpPr>
          <p:cNvPr id="154" name="Google Shape;154;p24"/>
          <p:cNvSpPr/>
          <p:nvPr/>
        </p:nvSpPr>
        <p:spPr>
          <a:xfrm>
            <a:off x="6843713" y="2607469"/>
            <a:ext cx="1607400" cy="285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/>
          <p:nvPr/>
        </p:nvSpPr>
        <p:spPr>
          <a:xfrm>
            <a:off x="6786563" y="2928938"/>
            <a:ext cx="17145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9E2EF"/>
                </a:solidFill>
              </a:rPr>
              <a:t>Competition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9E2EF"/>
                </a:solidFill>
              </a:rPr>
              <a:t>Churn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D9E2EF"/>
                </a:solidFill>
              </a:rPr>
              <a:t>Growth</a:t>
            </a:r>
            <a:endParaRPr sz="1100"/>
          </a:p>
        </p:txBody>
      </p:sp>
      <p:sp>
        <p:nvSpPr>
          <p:cNvPr id="156" name="Google Shape;156;p24"/>
          <p:cNvSpPr/>
          <p:nvPr/>
        </p:nvSpPr>
        <p:spPr>
          <a:xfrm>
            <a:off x="6550819" y="4500563"/>
            <a:ext cx="23289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E50914"/>
                </a:solidFill>
              </a:rPr>
              <a:t>NETFLIX CUSTOMER RETENTION &amp; GROWTH STRATEGY</a:t>
            </a:r>
            <a:endParaRPr sz="1100"/>
          </a:p>
        </p:txBody>
      </p:sp>
      <p:sp>
        <p:nvSpPr>
          <p:cNvPr id="157" name="Google Shape;157;p24"/>
          <p:cNvSpPr/>
          <p:nvPr/>
        </p:nvSpPr>
        <p:spPr>
          <a:xfrm>
            <a:off x="8386763" y="4814888"/>
            <a:ext cx="2145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D9E2EF"/>
                </a:solidFill>
              </a:rPr>
              <a:t>3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/>
          <p:nvPr/>
        </p:nvSpPr>
        <p:spPr>
          <a:xfrm>
            <a:off x="514350" y="357188"/>
            <a:ext cx="2857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BUSINESS UNDERSTANDING</a:t>
            </a:r>
            <a:endParaRPr sz="1100"/>
          </a:p>
        </p:txBody>
      </p:sp>
      <p:sp>
        <p:nvSpPr>
          <p:cNvPr id="165" name="Google Shape;165;p25"/>
          <p:cNvSpPr/>
          <p:nvPr/>
        </p:nvSpPr>
        <p:spPr>
          <a:xfrm>
            <a:off x="514350" y="600075"/>
            <a:ext cx="657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Three objectives guide the analysis</a:t>
            </a:r>
            <a:endParaRPr sz="1100"/>
          </a:p>
        </p:txBody>
      </p:sp>
      <p:sp>
        <p:nvSpPr>
          <p:cNvPr id="166" name="Google Shape;166;p25"/>
          <p:cNvSpPr/>
          <p:nvPr/>
        </p:nvSpPr>
        <p:spPr>
          <a:xfrm>
            <a:off x="514350" y="1035844"/>
            <a:ext cx="74295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174"/>
                </a:solidFill>
              </a:rPr>
              <a:t>Customer subscription and engagement data translate the business problem into measurable questions.</a:t>
            </a:r>
            <a:endParaRPr sz="1100"/>
          </a:p>
        </p:txBody>
      </p:sp>
      <p:sp>
        <p:nvSpPr>
          <p:cNvPr id="167" name="Google Shape;167;p25"/>
          <p:cNvSpPr/>
          <p:nvPr/>
        </p:nvSpPr>
        <p:spPr>
          <a:xfrm>
            <a:off x="514350" y="1643063"/>
            <a:ext cx="2500500" cy="2643300"/>
          </a:xfrm>
          <a:prstGeom prst="roundRect">
            <a:avLst>
              <a:gd fmla="val 3429" name="adj"/>
            </a:avLst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5"/>
          <p:cNvSpPr/>
          <p:nvPr/>
        </p:nvSpPr>
        <p:spPr>
          <a:xfrm>
            <a:off x="685800" y="1800225"/>
            <a:ext cx="342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01</a:t>
            </a:r>
            <a:endParaRPr sz="1100"/>
          </a:p>
        </p:txBody>
      </p:sp>
      <p:sp>
        <p:nvSpPr>
          <p:cNvPr id="169" name="Google Shape;169;p25"/>
          <p:cNvSpPr/>
          <p:nvPr/>
        </p:nvSpPr>
        <p:spPr>
          <a:xfrm>
            <a:off x="685800" y="2114550"/>
            <a:ext cx="21576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</a:rPr>
              <a:t>RETAIN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</a:rPr>
              <a:t>CUSTOMERS</a:t>
            </a:r>
            <a:endParaRPr sz="1100"/>
          </a:p>
        </p:txBody>
      </p:sp>
      <p:sp>
        <p:nvSpPr>
          <p:cNvPr id="170" name="Google Shape;170;p25"/>
          <p:cNvSpPr/>
          <p:nvPr/>
        </p:nvSpPr>
        <p:spPr>
          <a:xfrm>
            <a:off x="685800" y="2750344"/>
            <a:ext cx="1285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D7D9"/>
                </a:solidFill>
              </a:rPr>
              <a:t>OBJECTIVE</a:t>
            </a:r>
            <a:endParaRPr sz="1100"/>
          </a:p>
        </p:txBody>
      </p:sp>
      <p:sp>
        <p:nvSpPr>
          <p:cNvPr id="171" name="Google Shape;171;p25"/>
          <p:cNvSpPr/>
          <p:nvPr/>
        </p:nvSpPr>
        <p:spPr>
          <a:xfrm>
            <a:off x="685800" y="2957513"/>
            <a:ext cx="2129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</a:rPr>
              <a:t>Predict churn risk and identify the behaviors connected to cancellation.</a:t>
            </a:r>
            <a:endParaRPr sz="1100"/>
          </a:p>
        </p:txBody>
      </p:sp>
      <p:sp>
        <p:nvSpPr>
          <p:cNvPr id="172" name="Google Shape;172;p25"/>
          <p:cNvSpPr/>
          <p:nvPr/>
        </p:nvSpPr>
        <p:spPr>
          <a:xfrm>
            <a:off x="685800" y="3514725"/>
            <a:ext cx="2157600" cy="144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5"/>
          <p:cNvSpPr/>
          <p:nvPr/>
        </p:nvSpPr>
        <p:spPr>
          <a:xfrm>
            <a:off x="685800" y="3643313"/>
            <a:ext cx="1285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D7D9"/>
                </a:solidFill>
              </a:rPr>
              <a:t>KEY QUESTION</a:t>
            </a:r>
            <a:endParaRPr sz="1100"/>
          </a:p>
        </p:txBody>
      </p:sp>
      <p:sp>
        <p:nvSpPr>
          <p:cNvPr id="174" name="Google Shape;174;p25"/>
          <p:cNvSpPr/>
          <p:nvPr/>
        </p:nvSpPr>
        <p:spPr>
          <a:xfrm>
            <a:off x="685800" y="3836194"/>
            <a:ext cx="2129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Which customer traits and engagement behaviors are associated with churn?</a:t>
            </a:r>
            <a:endParaRPr sz="1100"/>
          </a:p>
        </p:txBody>
      </p:sp>
      <p:sp>
        <p:nvSpPr>
          <p:cNvPr id="175" name="Google Shape;175;p25"/>
          <p:cNvSpPr/>
          <p:nvPr/>
        </p:nvSpPr>
        <p:spPr>
          <a:xfrm>
            <a:off x="3214688" y="1643063"/>
            <a:ext cx="2500500" cy="2643300"/>
          </a:xfrm>
          <a:prstGeom prst="roundRect">
            <a:avLst>
              <a:gd fmla="val 3429" name="adj"/>
            </a:avLst>
          </a:prstGeom>
          <a:solidFill>
            <a:srgbClr val="243A5C"/>
          </a:solidFill>
          <a:ln cap="flat" cmpd="sng" w="7150">
            <a:solidFill>
              <a:srgbClr val="24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5"/>
          <p:cNvSpPr/>
          <p:nvPr/>
        </p:nvSpPr>
        <p:spPr>
          <a:xfrm>
            <a:off x="3386138" y="1800225"/>
            <a:ext cx="342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02</a:t>
            </a:r>
            <a:endParaRPr sz="1100"/>
          </a:p>
        </p:txBody>
      </p:sp>
      <p:sp>
        <p:nvSpPr>
          <p:cNvPr id="177" name="Google Shape;177;p25"/>
          <p:cNvSpPr/>
          <p:nvPr/>
        </p:nvSpPr>
        <p:spPr>
          <a:xfrm>
            <a:off x="3386138" y="2114550"/>
            <a:ext cx="21576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</a:rPr>
              <a:t>GROW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</a:rPr>
              <a:t>MEMBERSHIP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>
            <a:off x="3386138" y="2750344"/>
            <a:ext cx="1285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D7D9"/>
                </a:solidFill>
              </a:rPr>
              <a:t>OBJECTIVE</a:t>
            </a:r>
            <a:endParaRPr sz="1100"/>
          </a:p>
        </p:txBody>
      </p:sp>
      <p:sp>
        <p:nvSpPr>
          <p:cNvPr id="179" name="Google Shape;179;p25"/>
          <p:cNvSpPr/>
          <p:nvPr/>
        </p:nvSpPr>
        <p:spPr>
          <a:xfrm>
            <a:off x="3386138" y="2957513"/>
            <a:ext cx="2129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</a:rPr>
              <a:t>Identify Basic and Standard subscribers with the strongest upgrade potential.</a:t>
            </a:r>
            <a:endParaRPr sz="1100"/>
          </a:p>
        </p:txBody>
      </p:sp>
      <p:sp>
        <p:nvSpPr>
          <p:cNvPr id="180" name="Google Shape;180;p25"/>
          <p:cNvSpPr/>
          <p:nvPr/>
        </p:nvSpPr>
        <p:spPr>
          <a:xfrm>
            <a:off x="3386138" y="3514725"/>
            <a:ext cx="2157600" cy="144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5"/>
          <p:cNvSpPr/>
          <p:nvPr/>
        </p:nvSpPr>
        <p:spPr>
          <a:xfrm>
            <a:off x="3386138" y="3643313"/>
            <a:ext cx="1285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D7D9"/>
                </a:solidFill>
              </a:rPr>
              <a:t>KEY QUESTION</a:t>
            </a:r>
            <a:endParaRPr sz="1100"/>
          </a:p>
        </p:txBody>
      </p:sp>
      <p:sp>
        <p:nvSpPr>
          <p:cNvPr id="182" name="Google Shape;182;p25"/>
          <p:cNvSpPr/>
          <p:nvPr/>
        </p:nvSpPr>
        <p:spPr>
          <a:xfrm>
            <a:off x="3386138" y="3836194"/>
            <a:ext cx="2129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Which current subscribers appear to be the strongest upgrade opportunities?</a:t>
            </a:r>
            <a:endParaRPr sz="1100"/>
          </a:p>
        </p:txBody>
      </p:sp>
      <p:sp>
        <p:nvSpPr>
          <p:cNvPr id="183" name="Google Shape;183;p25"/>
          <p:cNvSpPr/>
          <p:nvPr/>
        </p:nvSpPr>
        <p:spPr>
          <a:xfrm>
            <a:off x="5915025" y="1643063"/>
            <a:ext cx="2500500" cy="2643300"/>
          </a:xfrm>
          <a:prstGeom prst="roundRect">
            <a:avLst>
              <a:gd fmla="val 3429" name="adj"/>
            </a:avLst>
          </a:prstGeom>
          <a:solidFill>
            <a:srgbClr val="466E99"/>
          </a:solidFill>
          <a:ln cap="flat" cmpd="sng" w="7150">
            <a:solidFill>
              <a:srgbClr val="466E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5"/>
          <p:cNvSpPr/>
          <p:nvPr/>
        </p:nvSpPr>
        <p:spPr>
          <a:xfrm>
            <a:off x="6086475" y="1800225"/>
            <a:ext cx="342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03</a:t>
            </a:r>
            <a:endParaRPr sz="1100"/>
          </a:p>
        </p:txBody>
      </p:sp>
      <p:sp>
        <p:nvSpPr>
          <p:cNvPr id="185" name="Google Shape;185;p25"/>
          <p:cNvSpPr/>
          <p:nvPr/>
        </p:nvSpPr>
        <p:spPr>
          <a:xfrm>
            <a:off x="6086475" y="2114550"/>
            <a:ext cx="21576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</a:rPr>
              <a:t>ACQUIRE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FFFF"/>
                </a:solidFill>
              </a:rPr>
              <a:t>HIGH-VALUE</a:t>
            </a:r>
            <a:endParaRPr sz="1100"/>
          </a:p>
        </p:txBody>
      </p:sp>
      <p:sp>
        <p:nvSpPr>
          <p:cNvPr id="186" name="Google Shape;186;p25"/>
          <p:cNvSpPr/>
          <p:nvPr/>
        </p:nvSpPr>
        <p:spPr>
          <a:xfrm>
            <a:off x="6086475" y="2750344"/>
            <a:ext cx="1285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D7D9"/>
                </a:solidFill>
              </a:rPr>
              <a:t>OBJECTIVE</a:t>
            </a:r>
            <a:endParaRPr sz="1100"/>
          </a:p>
        </p:txBody>
      </p:sp>
      <p:sp>
        <p:nvSpPr>
          <p:cNvPr id="187" name="Google Shape;187;p25"/>
          <p:cNvSpPr/>
          <p:nvPr/>
        </p:nvSpPr>
        <p:spPr>
          <a:xfrm>
            <a:off x="6086475" y="2957513"/>
            <a:ext cx="21291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</a:rPr>
              <a:t>Describe retained, high-value customers to guide future targeting.</a:t>
            </a:r>
            <a:endParaRPr sz="1100"/>
          </a:p>
        </p:txBody>
      </p:sp>
      <p:sp>
        <p:nvSpPr>
          <p:cNvPr id="188" name="Google Shape;188;p25"/>
          <p:cNvSpPr/>
          <p:nvPr/>
        </p:nvSpPr>
        <p:spPr>
          <a:xfrm>
            <a:off x="6086475" y="3514725"/>
            <a:ext cx="2157600" cy="144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5"/>
          <p:cNvSpPr/>
          <p:nvPr/>
        </p:nvSpPr>
        <p:spPr>
          <a:xfrm>
            <a:off x="6086475" y="3643313"/>
            <a:ext cx="12858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D7D9"/>
                </a:solidFill>
              </a:rPr>
              <a:t>KEY QUESTION</a:t>
            </a:r>
            <a:endParaRPr sz="1100"/>
          </a:p>
        </p:txBody>
      </p:sp>
      <p:sp>
        <p:nvSpPr>
          <p:cNvPr id="190" name="Google Shape;190;p25"/>
          <p:cNvSpPr/>
          <p:nvPr/>
        </p:nvSpPr>
        <p:spPr>
          <a:xfrm>
            <a:off x="6086475" y="3836194"/>
            <a:ext cx="21291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What characteristics should inform future acquisition targeting?</a:t>
            </a:r>
            <a:endParaRPr sz="1100"/>
          </a:p>
        </p:txBody>
      </p:sp>
      <p:sp>
        <p:nvSpPr>
          <p:cNvPr id="191" name="Google Shape;191;p25"/>
          <p:cNvSpPr/>
          <p:nvPr/>
        </p:nvSpPr>
        <p:spPr>
          <a:xfrm>
            <a:off x="514350" y="4772025"/>
            <a:ext cx="3571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A8798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192" name="Google Shape;192;p25"/>
          <p:cNvSpPr/>
          <p:nvPr/>
        </p:nvSpPr>
        <p:spPr>
          <a:xfrm>
            <a:off x="8372475" y="4743450"/>
            <a:ext cx="257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A8798"/>
                </a:solidFill>
              </a:rPr>
              <a:t>4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6"/>
          <p:cNvSpPr/>
          <p:nvPr/>
        </p:nvSpPr>
        <p:spPr>
          <a:xfrm>
            <a:off x="514350" y="357188"/>
            <a:ext cx="2286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DATA UNDERSTANDING</a:t>
            </a:r>
            <a:endParaRPr sz="1100"/>
          </a:p>
        </p:txBody>
      </p:sp>
      <p:sp>
        <p:nvSpPr>
          <p:cNvPr id="200" name="Google Shape;200;p26"/>
          <p:cNvSpPr/>
          <p:nvPr/>
        </p:nvSpPr>
        <p:spPr>
          <a:xfrm>
            <a:off x="514350" y="600075"/>
            <a:ext cx="6286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The data behind the churn strategy</a:t>
            </a:r>
            <a:endParaRPr sz="1100"/>
          </a:p>
        </p:txBody>
      </p:sp>
      <p:sp>
        <p:nvSpPr>
          <p:cNvPr id="201" name="Google Shape;201;p26"/>
          <p:cNvSpPr/>
          <p:nvPr/>
        </p:nvSpPr>
        <p:spPr>
          <a:xfrm>
            <a:off x="514350" y="1035844"/>
            <a:ext cx="75012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174"/>
                </a:solidFill>
              </a:rPr>
              <a:t>A synthetic Netflix-like dataset connects customer attributes and viewing behavior to subscription outcomes.</a:t>
            </a:r>
            <a:endParaRPr sz="1100"/>
          </a:p>
        </p:txBody>
      </p:sp>
      <p:sp>
        <p:nvSpPr>
          <p:cNvPr id="202" name="Google Shape;202;p26"/>
          <p:cNvSpPr/>
          <p:nvPr/>
        </p:nvSpPr>
        <p:spPr>
          <a:xfrm>
            <a:off x="514350" y="1614488"/>
            <a:ext cx="2571900" cy="2628900"/>
          </a:xfrm>
          <a:prstGeom prst="roundRect">
            <a:avLst>
              <a:gd fmla="val 3333" name="adj"/>
            </a:avLst>
          </a:prstGeom>
          <a:solidFill>
            <a:srgbClr val="243A5C"/>
          </a:solidFill>
          <a:ln cap="flat" cmpd="sng" w="7150">
            <a:solidFill>
              <a:srgbClr val="24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6"/>
          <p:cNvSpPr/>
          <p:nvPr/>
        </p:nvSpPr>
        <p:spPr>
          <a:xfrm>
            <a:off x="514350" y="1614488"/>
            <a:ext cx="2571900" cy="645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6"/>
          <p:cNvSpPr/>
          <p:nvPr/>
        </p:nvSpPr>
        <p:spPr>
          <a:xfrm>
            <a:off x="714375" y="1857375"/>
            <a:ext cx="14289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D7D9"/>
                </a:solidFill>
              </a:rPr>
              <a:t>DATA PROFILE</a:t>
            </a:r>
            <a:endParaRPr sz="1100"/>
          </a:p>
        </p:txBody>
      </p:sp>
      <p:sp>
        <p:nvSpPr>
          <p:cNvPr id="205" name="Google Shape;205;p26"/>
          <p:cNvSpPr/>
          <p:nvPr/>
        </p:nvSpPr>
        <p:spPr>
          <a:xfrm>
            <a:off x="714375" y="2128838"/>
            <a:ext cx="17859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</a:rPr>
              <a:t>5,000</a:t>
            </a:r>
            <a:endParaRPr sz="1100"/>
          </a:p>
        </p:txBody>
      </p:sp>
      <p:sp>
        <p:nvSpPr>
          <p:cNvPr id="206" name="Google Shape;206;p26"/>
          <p:cNvSpPr/>
          <p:nvPr/>
        </p:nvSpPr>
        <p:spPr>
          <a:xfrm>
            <a:off x="728663" y="2557463"/>
            <a:ext cx="17145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AF0F6"/>
                </a:solidFill>
              </a:rPr>
              <a:t>synthetic customer records</a:t>
            </a:r>
            <a:endParaRPr sz="1100"/>
          </a:p>
        </p:txBody>
      </p:sp>
      <p:sp>
        <p:nvSpPr>
          <p:cNvPr id="207" name="Google Shape;207;p26"/>
          <p:cNvSpPr/>
          <p:nvPr/>
        </p:nvSpPr>
        <p:spPr>
          <a:xfrm>
            <a:off x="714375" y="2928938"/>
            <a:ext cx="2085900" cy="14400"/>
          </a:xfrm>
          <a:prstGeom prst="rect">
            <a:avLst/>
          </a:prstGeom>
          <a:solidFill>
            <a:srgbClr val="7084A1"/>
          </a:solidFill>
          <a:ln cap="flat" cmpd="sng" w="7150">
            <a:solidFill>
              <a:srgbClr val="7084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6"/>
          <p:cNvSpPr/>
          <p:nvPr/>
        </p:nvSpPr>
        <p:spPr>
          <a:xfrm>
            <a:off x="714375" y="3100388"/>
            <a:ext cx="1571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D7D9"/>
                </a:solidFill>
              </a:rPr>
              <a:t>UNIT OF ANALYSIS</a:t>
            </a:r>
            <a:endParaRPr sz="1100"/>
          </a:p>
        </p:txBody>
      </p:sp>
      <p:sp>
        <p:nvSpPr>
          <p:cNvPr id="209" name="Google Shape;209;p26"/>
          <p:cNvSpPr/>
          <p:nvPr/>
        </p:nvSpPr>
        <p:spPr>
          <a:xfrm>
            <a:off x="714375" y="3314700"/>
            <a:ext cx="17859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One row = one subscriber</a:t>
            </a:r>
            <a:endParaRPr sz="1100"/>
          </a:p>
        </p:txBody>
      </p:sp>
      <p:sp>
        <p:nvSpPr>
          <p:cNvPr id="210" name="Google Shape;210;p26"/>
          <p:cNvSpPr/>
          <p:nvPr/>
        </p:nvSpPr>
        <p:spPr>
          <a:xfrm>
            <a:off x="714375" y="3700463"/>
            <a:ext cx="1571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D7D9"/>
                </a:solidFill>
              </a:rPr>
              <a:t>TARGET: CHURNED</a:t>
            </a:r>
            <a:endParaRPr sz="1100"/>
          </a:p>
        </p:txBody>
      </p:sp>
      <p:sp>
        <p:nvSpPr>
          <p:cNvPr id="211" name="Google Shape;211;p26"/>
          <p:cNvSpPr/>
          <p:nvPr/>
        </p:nvSpPr>
        <p:spPr>
          <a:xfrm>
            <a:off x="714375" y="3914775"/>
            <a:ext cx="1964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1 = canceled  •  0 = retained</a:t>
            </a:r>
            <a:endParaRPr sz="1100"/>
          </a:p>
        </p:txBody>
      </p:sp>
      <p:sp>
        <p:nvSpPr>
          <p:cNvPr id="212" name="Google Shape;212;p26"/>
          <p:cNvSpPr/>
          <p:nvPr/>
        </p:nvSpPr>
        <p:spPr>
          <a:xfrm>
            <a:off x="3786188" y="1678781"/>
            <a:ext cx="30003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WHAT THE DATA CAPTURES</a:t>
            </a:r>
            <a:endParaRPr sz="1100"/>
          </a:p>
        </p:txBody>
      </p:sp>
      <p:sp>
        <p:nvSpPr>
          <p:cNvPr id="213" name="Google Shape;213;p26"/>
          <p:cNvSpPr/>
          <p:nvPr/>
        </p:nvSpPr>
        <p:spPr>
          <a:xfrm>
            <a:off x="3786188" y="2071688"/>
            <a:ext cx="114300" cy="5715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6"/>
          <p:cNvSpPr/>
          <p:nvPr/>
        </p:nvSpPr>
        <p:spPr>
          <a:xfrm>
            <a:off x="4107656" y="2128838"/>
            <a:ext cx="342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01</a:t>
            </a:r>
            <a:endParaRPr sz="1100"/>
          </a:p>
        </p:txBody>
      </p:sp>
      <p:sp>
        <p:nvSpPr>
          <p:cNvPr id="215" name="Google Shape;215;p26"/>
          <p:cNvSpPr/>
          <p:nvPr/>
        </p:nvSpPr>
        <p:spPr>
          <a:xfrm>
            <a:off x="4464844" y="2100263"/>
            <a:ext cx="3571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2033"/>
                </a:solidFill>
              </a:rPr>
              <a:t>Customer demographics</a:t>
            </a:r>
            <a:endParaRPr sz="1100"/>
          </a:p>
        </p:txBody>
      </p:sp>
      <p:sp>
        <p:nvSpPr>
          <p:cNvPr id="216" name="Google Shape;216;p26"/>
          <p:cNvSpPr/>
          <p:nvPr/>
        </p:nvSpPr>
        <p:spPr>
          <a:xfrm>
            <a:off x="4464844" y="2350294"/>
            <a:ext cx="371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26174"/>
                </a:solidFill>
              </a:rPr>
              <a:t>Customer ID, age, gender, and region.</a:t>
            </a:r>
            <a:endParaRPr sz="1100"/>
          </a:p>
        </p:txBody>
      </p:sp>
      <p:sp>
        <p:nvSpPr>
          <p:cNvPr id="217" name="Google Shape;217;p26"/>
          <p:cNvSpPr/>
          <p:nvPr/>
        </p:nvSpPr>
        <p:spPr>
          <a:xfrm>
            <a:off x="4107656" y="2721769"/>
            <a:ext cx="4072200" cy="14400"/>
          </a:xfrm>
          <a:prstGeom prst="rect">
            <a:avLst/>
          </a:prstGeom>
          <a:solidFill>
            <a:srgbClr val="D7DDE5"/>
          </a:solidFill>
          <a:ln cap="flat" cmpd="sng" w="7150">
            <a:solidFill>
              <a:srgbClr val="D7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6"/>
          <p:cNvSpPr/>
          <p:nvPr/>
        </p:nvSpPr>
        <p:spPr>
          <a:xfrm>
            <a:off x="3786188" y="2928938"/>
            <a:ext cx="114300" cy="571500"/>
          </a:xfrm>
          <a:prstGeom prst="rect">
            <a:avLst/>
          </a:prstGeom>
          <a:solidFill>
            <a:srgbClr val="243A5C"/>
          </a:solidFill>
          <a:ln cap="flat" cmpd="sng" w="7150">
            <a:solidFill>
              <a:srgbClr val="24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6"/>
          <p:cNvSpPr/>
          <p:nvPr/>
        </p:nvSpPr>
        <p:spPr>
          <a:xfrm>
            <a:off x="4107656" y="2986088"/>
            <a:ext cx="342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43A5C"/>
                </a:solidFill>
              </a:rPr>
              <a:t>02</a:t>
            </a:r>
            <a:endParaRPr sz="1100"/>
          </a:p>
        </p:txBody>
      </p:sp>
      <p:sp>
        <p:nvSpPr>
          <p:cNvPr id="220" name="Google Shape;220;p26"/>
          <p:cNvSpPr/>
          <p:nvPr/>
        </p:nvSpPr>
        <p:spPr>
          <a:xfrm>
            <a:off x="4464844" y="2957513"/>
            <a:ext cx="3571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2033"/>
                </a:solidFill>
              </a:rPr>
              <a:t>Subscription information</a:t>
            </a:r>
            <a:endParaRPr sz="1100"/>
          </a:p>
        </p:txBody>
      </p:sp>
      <p:sp>
        <p:nvSpPr>
          <p:cNvPr id="221" name="Google Shape;221;p26"/>
          <p:cNvSpPr/>
          <p:nvPr/>
        </p:nvSpPr>
        <p:spPr>
          <a:xfrm>
            <a:off x="4464844" y="3207544"/>
            <a:ext cx="371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26174"/>
                </a:solidFill>
              </a:rPr>
              <a:t>Plan type, monthly fee, payment method, and number of profiles.</a:t>
            </a:r>
            <a:endParaRPr sz="1100"/>
          </a:p>
        </p:txBody>
      </p:sp>
      <p:sp>
        <p:nvSpPr>
          <p:cNvPr id="222" name="Google Shape;222;p26"/>
          <p:cNvSpPr/>
          <p:nvPr/>
        </p:nvSpPr>
        <p:spPr>
          <a:xfrm>
            <a:off x="4107656" y="3579019"/>
            <a:ext cx="4072200" cy="14400"/>
          </a:xfrm>
          <a:prstGeom prst="rect">
            <a:avLst/>
          </a:prstGeom>
          <a:solidFill>
            <a:srgbClr val="D7DDE5"/>
          </a:solidFill>
          <a:ln cap="flat" cmpd="sng" w="7150">
            <a:solidFill>
              <a:srgbClr val="D7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6"/>
          <p:cNvSpPr/>
          <p:nvPr/>
        </p:nvSpPr>
        <p:spPr>
          <a:xfrm>
            <a:off x="3786188" y="3786188"/>
            <a:ext cx="114300" cy="571500"/>
          </a:xfrm>
          <a:prstGeom prst="rect">
            <a:avLst/>
          </a:prstGeom>
          <a:solidFill>
            <a:srgbClr val="466E99"/>
          </a:solidFill>
          <a:ln cap="flat" cmpd="sng" w="7150">
            <a:solidFill>
              <a:srgbClr val="466E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6"/>
          <p:cNvSpPr/>
          <p:nvPr/>
        </p:nvSpPr>
        <p:spPr>
          <a:xfrm>
            <a:off x="4107656" y="3843338"/>
            <a:ext cx="3429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66E99"/>
                </a:solidFill>
              </a:rPr>
              <a:t>03</a:t>
            </a:r>
            <a:endParaRPr sz="1100"/>
          </a:p>
        </p:txBody>
      </p:sp>
      <p:sp>
        <p:nvSpPr>
          <p:cNvPr id="225" name="Google Shape;225;p26"/>
          <p:cNvSpPr/>
          <p:nvPr/>
        </p:nvSpPr>
        <p:spPr>
          <a:xfrm>
            <a:off x="4464844" y="3814763"/>
            <a:ext cx="3571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2033"/>
                </a:solidFill>
              </a:rPr>
              <a:t>Customer engagement</a:t>
            </a:r>
            <a:endParaRPr sz="1100"/>
          </a:p>
        </p:txBody>
      </p:sp>
      <p:sp>
        <p:nvSpPr>
          <p:cNvPr id="226" name="Google Shape;226;p26"/>
          <p:cNvSpPr/>
          <p:nvPr/>
        </p:nvSpPr>
        <p:spPr>
          <a:xfrm>
            <a:off x="4464844" y="4064794"/>
            <a:ext cx="3714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26174"/>
                </a:solidFill>
              </a:rPr>
              <a:t>Watch hours, average watch time, last login, device, and favorite genre.</a:t>
            </a:r>
            <a:endParaRPr sz="1100"/>
          </a:p>
        </p:txBody>
      </p:sp>
      <p:sp>
        <p:nvSpPr>
          <p:cNvPr id="227" name="Google Shape;227;p26"/>
          <p:cNvSpPr/>
          <p:nvPr/>
        </p:nvSpPr>
        <p:spPr>
          <a:xfrm>
            <a:off x="4107656" y="4436269"/>
            <a:ext cx="4072200" cy="14400"/>
          </a:xfrm>
          <a:prstGeom prst="rect">
            <a:avLst/>
          </a:prstGeom>
          <a:solidFill>
            <a:srgbClr val="D7DDE5"/>
          </a:solidFill>
          <a:ln cap="flat" cmpd="sng" w="7150">
            <a:solidFill>
              <a:srgbClr val="D7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6"/>
          <p:cNvSpPr/>
          <p:nvPr/>
        </p:nvSpPr>
        <p:spPr>
          <a:xfrm>
            <a:off x="514350" y="4772025"/>
            <a:ext cx="3571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A8798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229" name="Google Shape;229;p26"/>
          <p:cNvSpPr/>
          <p:nvPr/>
        </p:nvSpPr>
        <p:spPr>
          <a:xfrm>
            <a:off x="8372475" y="4743450"/>
            <a:ext cx="257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A8798"/>
                </a:solidFill>
              </a:rPr>
              <a:t>5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7"/>
          <p:cNvSpPr/>
          <p:nvPr/>
        </p:nvSpPr>
        <p:spPr>
          <a:xfrm>
            <a:off x="514350" y="321469"/>
            <a:ext cx="2286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DATA PREPARATION</a:t>
            </a:r>
            <a:endParaRPr sz="1100"/>
          </a:p>
        </p:txBody>
      </p:sp>
      <p:sp>
        <p:nvSpPr>
          <p:cNvPr id="237" name="Google Shape;237;p27"/>
          <p:cNvSpPr/>
          <p:nvPr/>
        </p:nvSpPr>
        <p:spPr>
          <a:xfrm>
            <a:off x="514350" y="557213"/>
            <a:ext cx="671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Initial customer-data review in Python</a:t>
            </a:r>
            <a:endParaRPr sz="1100"/>
          </a:p>
        </p:txBody>
      </p:sp>
      <p:sp>
        <p:nvSpPr>
          <p:cNvPr id="238" name="Google Shape;238;p27"/>
          <p:cNvSpPr/>
          <p:nvPr/>
        </p:nvSpPr>
        <p:spPr>
          <a:xfrm>
            <a:off x="514350" y="978694"/>
            <a:ext cx="7786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174"/>
                </a:solidFill>
              </a:rPr>
              <a:t>The notebook loads the CSV and previews the first five customer records before quality checks and feature engineering.</a:t>
            </a:r>
            <a:endParaRPr sz="1100"/>
          </a:p>
        </p:txBody>
      </p:sp>
      <p:sp>
        <p:nvSpPr>
          <p:cNvPr id="239" name="Google Shape;239;p27"/>
          <p:cNvSpPr/>
          <p:nvPr/>
        </p:nvSpPr>
        <p:spPr>
          <a:xfrm>
            <a:off x="514350" y="1457325"/>
            <a:ext cx="8115300" cy="2600400"/>
          </a:xfrm>
          <a:prstGeom prst="roundRect">
            <a:avLst>
              <a:gd fmla="val 3297" name="adj"/>
            </a:avLst>
          </a:prstGeom>
          <a:solidFill>
            <a:srgbClr val="FFFFFF"/>
          </a:solidFill>
          <a:ln cap="flat" cmpd="sng" w="7150">
            <a:solidFill>
              <a:srgbClr val="D7DDE5"/>
            </a:solidFill>
            <a:prstDash val="solid"/>
            <a:round/>
            <a:headEnd len="sm" w="sm" type="none"/>
            <a:tailEnd len="sm" w="sm" type="none"/>
          </a:ln>
          <a:effectLst>
            <a:outerShdw blurRad="14288" dir="5400000" dist="7144">
              <a:srgbClr val="000000">
                <a:alpha val="588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7"/>
          <p:cNvPicPr preferRelativeResize="0"/>
          <p:nvPr/>
        </p:nvPicPr>
        <p:blipFill rotWithShape="1">
          <a:blip r:embed="rId3">
            <a:alphaModFix/>
          </a:blip>
          <a:srcRect b="23464" l="0" r="0" t="23464"/>
          <a:stretch/>
        </p:blipFill>
        <p:spPr>
          <a:xfrm>
            <a:off x="628650" y="1571625"/>
            <a:ext cx="7886696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7"/>
          <p:cNvSpPr/>
          <p:nvPr/>
        </p:nvSpPr>
        <p:spPr>
          <a:xfrm>
            <a:off x="657225" y="4071938"/>
            <a:ext cx="30003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7A8798"/>
                </a:solidFill>
              </a:rPr>
              <a:t>SOURCE VIEW: PYTHON NOTEBOOK DATA PREVIEW</a:t>
            </a:r>
            <a:endParaRPr sz="1100"/>
          </a:p>
        </p:txBody>
      </p:sp>
      <p:sp>
        <p:nvSpPr>
          <p:cNvPr id="242" name="Google Shape;242;p27"/>
          <p:cNvSpPr/>
          <p:nvPr/>
        </p:nvSpPr>
        <p:spPr>
          <a:xfrm>
            <a:off x="514350" y="4300538"/>
            <a:ext cx="57000" cy="3144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7"/>
          <p:cNvSpPr/>
          <p:nvPr/>
        </p:nvSpPr>
        <p:spPr>
          <a:xfrm>
            <a:off x="671513" y="4279106"/>
            <a:ext cx="2143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INITIAL CHECK</a:t>
            </a:r>
            <a:endParaRPr sz="1100"/>
          </a:p>
        </p:txBody>
      </p:sp>
      <p:sp>
        <p:nvSpPr>
          <p:cNvPr id="244" name="Google Shape;244;p27"/>
          <p:cNvSpPr/>
          <p:nvPr/>
        </p:nvSpPr>
        <p:spPr>
          <a:xfrm>
            <a:off x="671513" y="4464844"/>
            <a:ext cx="2143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Load CSV and inspect first five records.</a:t>
            </a:r>
            <a:endParaRPr sz="1100"/>
          </a:p>
        </p:txBody>
      </p:sp>
      <p:sp>
        <p:nvSpPr>
          <p:cNvPr id="245" name="Google Shape;245;p27"/>
          <p:cNvSpPr/>
          <p:nvPr/>
        </p:nvSpPr>
        <p:spPr>
          <a:xfrm>
            <a:off x="3200400" y="4300538"/>
            <a:ext cx="57000" cy="314400"/>
          </a:xfrm>
          <a:prstGeom prst="rect">
            <a:avLst/>
          </a:prstGeom>
          <a:solidFill>
            <a:srgbClr val="243A5C"/>
          </a:solidFill>
          <a:ln cap="flat" cmpd="sng" w="7150">
            <a:solidFill>
              <a:srgbClr val="24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7"/>
          <p:cNvSpPr/>
          <p:nvPr/>
        </p:nvSpPr>
        <p:spPr>
          <a:xfrm>
            <a:off x="3357563" y="4279106"/>
            <a:ext cx="2143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243A5C"/>
                </a:solidFill>
              </a:rPr>
              <a:t>DATA STRUCTURE</a:t>
            </a:r>
            <a:endParaRPr sz="1100"/>
          </a:p>
        </p:txBody>
      </p:sp>
      <p:sp>
        <p:nvSpPr>
          <p:cNvPr id="247" name="Google Shape;247;p27"/>
          <p:cNvSpPr/>
          <p:nvPr/>
        </p:nvSpPr>
        <p:spPr>
          <a:xfrm>
            <a:off x="3357563" y="4464844"/>
            <a:ext cx="2143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5,000 customers and 14 features.</a:t>
            </a:r>
            <a:endParaRPr sz="1100"/>
          </a:p>
        </p:txBody>
      </p:sp>
      <p:sp>
        <p:nvSpPr>
          <p:cNvPr id="248" name="Google Shape;248;p27"/>
          <p:cNvSpPr/>
          <p:nvPr/>
        </p:nvSpPr>
        <p:spPr>
          <a:xfrm>
            <a:off x="5886450" y="4300538"/>
            <a:ext cx="57000" cy="314400"/>
          </a:xfrm>
          <a:prstGeom prst="rect">
            <a:avLst/>
          </a:prstGeom>
          <a:solidFill>
            <a:srgbClr val="466E99"/>
          </a:solidFill>
          <a:ln cap="flat" cmpd="sng" w="7150">
            <a:solidFill>
              <a:srgbClr val="466E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7"/>
          <p:cNvSpPr/>
          <p:nvPr/>
        </p:nvSpPr>
        <p:spPr>
          <a:xfrm>
            <a:off x="6043613" y="4279106"/>
            <a:ext cx="2143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466E99"/>
                </a:solidFill>
              </a:rPr>
              <a:t>NEXT STEP</a:t>
            </a:r>
            <a:endParaRPr sz="1100"/>
          </a:p>
        </p:txBody>
      </p:sp>
      <p:sp>
        <p:nvSpPr>
          <p:cNvPr id="250" name="Google Shape;250;p27"/>
          <p:cNvSpPr/>
          <p:nvPr/>
        </p:nvSpPr>
        <p:spPr>
          <a:xfrm>
            <a:off x="6043613" y="4464844"/>
            <a:ext cx="2143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Clean invalid values and engineer features.</a:t>
            </a:r>
            <a:endParaRPr sz="1100"/>
          </a:p>
        </p:txBody>
      </p:sp>
      <p:sp>
        <p:nvSpPr>
          <p:cNvPr id="251" name="Google Shape;251;p27"/>
          <p:cNvSpPr/>
          <p:nvPr/>
        </p:nvSpPr>
        <p:spPr>
          <a:xfrm>
            <a:off x="514350" y="4857750"/>
            <a:ext cx="3571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A8798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252" name="Google Shape;252;p27"/>
          <p:cNvSpPr/>
          <p:nvPr/>
        </p:nvSpPr>
        <p:spPr>
          <a:xfrm>
            <a:off x="8372475" y="4829175"/>
            <a:ext cx="257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A8798"/>
                </a:solidFill>
              </a:rPr>
              <a:t>6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8"/>
          <p:cNvSpPr/>
          <p:nvPr/>
        </p:nvSpPr>
        <p:spPr>
          <a:xfrm>
            <a:off x="514350" y="357188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DATA PREPARATION • QUALITY CHECK</a:t>
            </a:r>
            <a:endParaRPr sz="1100"/>
          </a:p>
        </p:txBody>
      </p:sp>
      <p:sp>
        <p:nvSpPr>
          <p:cNvPr id="260" name="Google Shape;260;p28"/>
          <p:cNvSpPr/>
          <p:nvPr/>
        </p:nvSpPr>
        <p:spPr>
          <a:xfrm>
            <a:off x="514350" y="600075"/>
            <a:ext cx="721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Summary statistics reveal what needs cleaning</a:t>
            </a:r>
            <a:endParaRPr sz="1100"/>
          </a:p>
        </p:txBody>
      </p:sp>
      <p:sp>
        <p:nvSpPr>
          <p:cNvPr id="261" name="Google Shape;261;p28"/>
          <p:cNvSpPr/>
          <p:nvPr/>
        </p:nvSpPr>
        <p:spPr>
          <a:xfrm>
            <a:off x="514350" y="1035844"/>
            <a:ext cx="77151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174"/>
                </a:solidFill>
              </a:rPr>
              <a:t>Python summary statistics establish typical customer behavior and flag invalid values before predictive modeling.</a:t>
            </a:r>
            <a:endParaRPr sz="1100"/>
          </a:p>
        </p:txBody>
      </p:sp>
      <p:sp>
        <p:nvSpPr>
          <p:cNvPr id="262" name="Google Shape;262;p28"/>
          <p:cNvSpPr/>
          <p:nvPr/>
        </p:nvSpPr>
        <p:spPr>
          <a:xfrm>
            <a:off x="514350" y="1571625"/>
            <a:ext cx="5179200" cy="2786100"/>
          </a:xfrm>
          <a:prstGeom prst="roundRect">
            <a:avLst>
              <a:gd fmla="val 3077" name="adj"/>
            </a:avLst>
          </a:prstGeom>
          <a:solidFill>
            <a:srgbClr val="FFFFFF"/>
          </a:solidFill>
          <a:ln cap="flat" cmpd="sng" w="7150">
            <a:solidFill>
              <a:srgbClr val="D7DDE5"/>
            </a:solidFill>
            <a:prstDash val="solid"/>
            <a:round/>
            <a:headEnd len="sm" w="sm" type="none"/>
            <a:tailEnd len="sm" w="sm" type="none"/>
          </a:ln>
          <a:effectLst>
            <a:outerShdw blurRad="14288" dir="5400000" dist="7144">
              <a:srgbClr val="000000">
                <a:alpha val="588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p28"/>
          <p:cNvPicPr preferRelativeResize="0"/>
          <p:nvPr/>
        </p:nvPicPr>
        <p:blipFill rotWithShape="1">
          <a:blip r:embed="rId3">
            <a:alphaModFix/>
          </a:blip>
          <a:srcRect b="4027" l="0" r="0" t="4036"/>
          <a:stretch/>
        </p:blipFill>
        <p:spPr>
          <a:xfrm>
            <a:off x="315925" y="1458875"/>
            <a:ext cx="5489025" cy="288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8"/>
          <p:cNvSpPr/>
          <p:nvPr/>
        </p:nvSpPr>
        <p:spPr>
          <a:xfrm>
            <a:off x="657225" y="4421981"/>
            <a:ext cx="27147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7A8798"/>
                </a:solidFill>
              </a:rPr>
              <a:t>SOURCE VIEW: PYTHON SUMMARY STATISTICS</a:t>
            </a:r>
            <a:endParaRPr sz="1100"/>
          </a:p>
        </p:txBody>
      </p:sp>
      <p:sp>
        <p:nvSpPr>
          <p:cNvPr id="265" name="Google Shape;265;p28"/>
          <p:cNvSpPr/>
          <p:nvPr/>
        </p:nvSpPr>
        <p:spPr>
          <a:xfrm>
            <a:off x="5965031" y="1571625"/>
            <a:ext cx="2664600" cy="2786100"/>
          </a:xfrm>
          <a:prstGeom prst="roundRect">
            <a:avLst>
              <a:gd fmla="val 3217" name="adj"/>
            </a:avLst>
          </a:prstGeom>
          <a:solidFill>
            <a:srgbClr val="243A5C"/>
          </a:solidFill>
          <a:ln cap="flat" cmpd="sng" w="7150">
            <a:solidFill>
              <a:srgbClr val="24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/>
          <p:nvPr/>
        </p:nvSpPr>
        <p:spPr>
          <a:xfrm>
            <a:off x="6179344" y="1771650"/>
            <a:ext cx="20718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D7D9"/>
                </a:solidFill>
              </a:rPr>
              <a:t>WHAT THE SUMMARY SHOWS</a:t>
            </a:r>
            <a:endParaRPr sz="1100"/>
          </a:p>
        </p:txBody>
      </p:sp>
      <p:sp>
        <p:nvSpPr>
          <p:cNvPr id="267" name="Google Shape;267;p28"/>
          <p:cNvSpPr/>
          <p:nvPr/>
        </p:nvSpPr>
        <p:spPr>
          <a:xfrm>
            <a:off x="6179344" y="2100263"/>
            <a:ext cx="50100" cy="357300"/>
          </a:xfrm>
          <a:prstGeom prst="rect">
            <a:avLst/>
          </a:prstGeom>
          <a:solidFill>
            <a:srgbClr val="FFD7D9"/>
          </a:solidFill>
          <a:ln cap="flat" cmpd="sng" w="7150">
            <a:solidFill>
              <a:srgbClr val="FFD7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8"/>
          <p:cNvSpPr/>
          <p:nvPr/>
        </p:nvSpPr>
        <p:spPr>
          <a:xfrm>
            <a:off x="6357938" y="2093119"/>
            <a:ext cx="1893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D7D9"/>
                </a:solidFill>
              </a:rPr>
              <a:t>TYPICAL CUSTOMER</a:t>
            </a:r>
            <a:endParaRPr sz="1100"/>
          </a:p>
        </p:txBody>
      </p:sp>
      <p:sp>
        <p:nvSpPr>
          <p:cNvPr id="269" name="Google Shape;269;p28"/>
          <p:cNvSpPr/>
          <p:nvPr/>
        </p:nvSpPr>
        <p:spPr>
          <a:xfrm>
            <a:off x="6357938" y="2293144"/>
            <a:ext cx="1893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0F6"/>
                </a:solidFill>
              </a:rPr>
              <a:t>Median age: 44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0F6"/>
                </a:solidFill>
              </a:rPr>
              <a:t>Median last login: 30 days</a:t>
            </a:r>
            <a:endParaRPr sz="1100"/>
          </a:p>
        </p:txBody>
      </p:sp>
      <p:sp>
        <p:nvSpPr>
          <p:cNvPr id="270" name="Google Shape;270;p28"/>
          <p:cNvSpPr/>
          <p:nvPr/>
        </p:nvSpPr>
        <p:spPr>
          <a:xfrm>
            <a:off x="6179344" y="2750344"/>
            <a:ext cx="50100" cy="3573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8"/>
          <p:cNvSpPr/>
          <p:nvPr/>
        </p:nvSpPr>
        <p:spPr>
          <a:xfrm>
            <a:off x="6357938" y="2743200"/>
            <a:ext cx="1893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CHURN DISTRIBUTION</a:t>
            </a:r>
            <a:endParaRPr sz="1100"/>
          </a:p>
        </p:txBody>
      </p:sp>
      <p:sp>
        <p:nvSpPr>
          <p:cNvPr id="272" name="Google Shape;272;p28"/>
          <p:cNvSpPr/>
          <p:nvPr/>
        </p:nvSpPr>
        <p:spPr>
          <a:xfrm>
            <a:off x="6357938" y="2943225"/>
            <a:ext cx="1893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0F6"/>
                </a:solidFill>
              </a:rPr>
              <a:t>50.3% of records are labeled churned — a nearly balanced target.</a:t>
            </a:r>
            <a:endParaRPr sz="1100"/>
          </a:p>
        </p:txBody>
      </p:sp>
      <p:sp>
        <p:nvSpPr>
          <p:cNvPr id="273" name="Google Shape;273;p28"/>
          <p:cNvSpPr/>
          <p:nvPr/>
        </p:nvSpPr>
        <p:spPr>
          <a:xfrm>
            <a:off x="6179344" y="3489913"/>
            <a:ext cx="2085900" cy="213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8"/>
          <p:cNvSpPr/>
          <p:nvPr/>
        </p:nvSpPr>
        <p:spPr>
          <a:xfrm>
            <a:off x="6179344" y="3536156"/>
            <a:ext cx="1714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FFD7D9"/>
                </a:solidFill>
              </a:rPr>
              <a:t>DATA QUALITY FLAG</a:t>
            </a:r>
            <a:endParaRPr sz="1100"/>
          </a:p>
        </p:txBody>
      </p:sp>
      <p:sp>
        <p:nvSpPr>
          <p:cNvPr id="275" name="Google Shape;275;p28"/>
          <p:cNvSpPr/>
          <p:nvPr/>
        </p:nvSpPr>
        <p:spPr>
          <a:xfrm>
            <a:off x="6179344" y="3703863"/>
            <a:ext cx="2085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</a:rPr>
              <a:t>The maximum average watch time is 98.42 hours/day — an impossible value. Records above 24 hours/day were removed.</a:t>
            </a:r>
            <a:endParaRPr sz="1100"/>
          </a:p>
        </p:txBody>
      </p:sp>
      <p:sp>
        <p:nvSpPr>
          <p:cNvPr id="276" name="Google Shape;276;p28"/>
          <p:cNvSpPr/>
          <p:nvPr/>
        </p:nvSpPr>
        <p:spPr>
          <a:xfrm>
            <a:off x="514350" y="4857750"/>
            <a:ext cx="3571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A8798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277" name="Google Shape;277;p28"/>
          <p:cNvSpPr/>
          <p:nvPr/>
        </p:nvSpPr>
        <p:spPr>
          <a:xfrm>
            <a:off x="8372475" y="4829175"/>
            <a:ext cx="257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A8798"/>
                </a:solidFill>
              </a:rPr>
              <a:t>7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9"/>
          <p:cNvSpPr/>
          <p:nvPr/>
        </p:nvSpPr>
        <p:spPr>
          <a:xfrm>
            <a:off x="514350" y="357188"/>
            <a:ext cx="3072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DATA PREPARATION • DATA INTEGRITY</a:t>
            </a:r>
            <a:endParaRPr sz="1100"/>
          </a:p>
        </p:txBody>
      </p:sp>
      <p:sp>
        <p:nvSpPr>
          <p:cNvPr id="285" name="Google Shape;285;p29"/>
          <p:cNvSpPr/>
          <p:nvPr/>
        </p:nvSpPr>
        <p:spPr>
          <a:xfrm>
            <a:off x="514350" y="600075"/>
            <a:ext cx="7000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A 24-hour rule protects the churn model</a:t>
            </a:r>
            <a:endParaRPr sz="1100"/>
          </a:p>
        </p:txBody>
      </p:sp>
      <p:sp>
        <p:nvSpPr>
          <p:cNvPr id="286" name="Google Shape;286;p29"/>
          <p:cNvSpPr/>
          <p:nvPr/>
        </p:nvSpPr>
        <p:spPr>
          <a:xfrm>
            <a:off x="514350" y="1035844"/>
            <a:ext cx="7858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174"/>
                </a:solidFill>
              </a:rPr>
              <a:t>The data-quality check detects viewing-time values that are physically impossible and removes them before modeling.</a:t>
            </a:r>
            <a:endParaRPr sz="1100"/>
          </a:p>
        </p:txBody>
      </p:sp>
      <p:sp>
        <p:nvSpPr>
          <p:cNvPr id="287" name="Google Shape;287;p29"/>
          <p:cNvSpPr/>
          <p:nvPr/>
        </p:nvSpPr>
        <p:spPr>
          <a:xfrm>
            <a:off x="514350" y="1571625"/>
            <a:ext cx="2800200" cy="2428800"/>
          </a:xfrm>
          <a:prstGeom prst="roundRect">
            <a:avLst>
              <a:gd fmla="val 3529" name="adj"/>
            </a:avLst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9"/>
          <p:cNvSpPr/>
          <p:nvPr/>
        </p:nvSpPr>
        <p:spPr>
          <a:xfrm>
            <a:off x="742950" y="1814513"/>
            <a:ext cx="1714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D7D9"/>
                </a:solidFill>
              </a:rPr>
              <a:t>VALID DAILY LIMIT</a:t>
            </a:r>
            <a:endParaRPr sz="1100"/>
          </a:p>
        </p:txBody>
      </p:sp>
      <p:sp>
        <p:nvSpPr>
          <p:cNvPr id="289" name="Google Shape;289;p29"/>
          <p:cNvSpPr/>
          <p:nvPr/>
        </p:nvSpPr>
        <p:spPr>
          <a:xfrm>
            <a:off x="742938" y="1968075"/>
            <a:ext cx="1214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</a:rPr>
              <a:t>24</a:t>
            </a:r>
            <a:endParaRPr sz="1100"/>
          </a:p>
        </p:txBody>
      </p:sp>
      <p:sp>
        <p:nvSpPr>
          <p:cNvPr id="290" name="Google Shape;290;p29"/>
          <p:cNvSpPr/>
          <p:nvPr/>
        </p:nvSpPr>
        <p:spPr>
          <a:xfrm>
            <a:off x="742938" y="2518169"/>
            <a:ext cx="14289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hours per day</a:t>
            </a:r>
            <a:endParaRPr sz="1100"/>
          </a:p>
        </p:txBody>
      </p:sp>
      <p:sp>
        <p:nvSpPr>
          <p:cNvPr id="291" name="Google Shape;291;p29"/>
          <p:cNvSpPr/>
          <p:nvPr/>
        </p:nvSpPr>
        <p:spPr>
          <a:xfrm>
            <a:off x="742950" y="2834388"/>
            <a:ext cx="2129100" cy="28500"/>
          </a:xfrm>
          <a:prstGeom prst="rect">
            <a:avLst/>
          </a:prstGeom>
          <a:solidFill>
            <a:srgbClr val="FFFF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9"/>
          <p:cNvSpPr/>
          <p:nvPr/>
        </p:nvSpPr>
        <p:spPr>
          <a:xfrm>
            <a:off x="742950" y="3027063"/>
            <a:ext cx="185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10 records exceeded this limit</a:t>
            </a:r>
            <a:endParaRPr sz="1100"/>
          </a:p>
        </p:txBody>
      </p:sp>
      <p:sp>
        <p:nvSpPr>
          <p:cNvPr id="293" name="Google Shape;293;p29"/>
          <p:cNvSpPr/>
          <p:nvPr/>
        </p:nvSpPr>
        <p:spPr>
          <a:xfrm>
            <a:off x="742950" y="3413769"/>
            <a:ext cx="18573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0F0"/>
                </a:solidFill>
              </a:rPr>
              <a:t>All were labeled retained, so keeping them would create an artificial high-engagement signal.</a:t>
            </a:r>
            <a:endParaRPr sz="1100"/>
          </a:p>
        </p:txBody>
      </p:sp>
      <p:sp>
        <p:nvSpPr>
          <p:cNvPr id="294" name="Google Shape;294;p29"/>
          <p:cNvSpPr/>
          <p:nvPr/>
        </p:nvSpPr>
        <p:spPr>
          <a:xfrm>
            <a:off x="3607594" y="1571625"/>
            <a:ext cx="5022000" cy="2428800"/>
          </a:xfrm>
          <a:prstGeom prst="roundRect">
            <a:avLst>
              <a:gd fmla="val 3529" name="adj"/>
            </a:avLst>
          </a:prstGeom>
          <a:solidFill>
            <a:srgbClr val="FFFFFF"/>
          </a:solidFill>
          <a:ln cap="flat" cmpd="sng" w="7150">
            <a:solidFill>
              <a:srgbClr val="D7DDE5"/>
            </a:solidFill>
            <a:prstDash val="solid"/>
            <a:round/>
            <a:headEnd len="sm" w="sm" type="none"/>
            <a:tailEnd len="sm" w="sm" type="none"/>
          </a:ln>
          <a:effectLst>
            <a:outerShdw blurRad="14288" dir="5400000" dist="7144">
              <a:srgbClr val="000000">
                <a:alpha val="588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5" name="Google Shape;29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8498" y="1693069"/>
            <a:ext cx="3840249" cy="2185988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9"/>
          <p:cNvSpPr/>
          <p:nvPr/>
        </p:nvSpPr>
        <p:spPr>
          <a:xfrm>
            <a:off x="514350" y="4179094"/>
            <a:ext cx="8115300" cy="14400"/>
          </a:xfrm>
          <a:prstGeom prst="rect">
            <a:avLst/>
          </a:prstGeom>
          <a:solidFill>
            <a:srgbClr val="D7DDE5"/>
          </a:solidFill>
          <a:ln cap="flat" cmpd="sng" w="7150">
            <a:solidFill>
              <a:srgbClr val="D7D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9"/>
          <p:cNvSpPr/>
          <p:nvPr/>
        </p:nvSpPr>
        <p:spPr>
          <a:xfrm>
            <a:off x="642938" y="4286250"/>
            <a:ext cx="342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01</a:t>
            </a:r>
            <a:endParaRPr sz="1100"/>
          </a:p>
        </p:txBody>
      </p:sp>
      <p:sp>
        <p:nvSpPr>
          <p:cNvPr id="298" name="Google Shape;298;p29"/>
          <p:cNvSpPr/>
          <p:nvPr/>
        </p:nvSpPr>
        <p:spPr>
          <a:xfrm>
            <a:off x="1028700" y="4271963"/>
            <a:ext cx="1143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72033"/>
                </a:solidFill>
              </a:rPr>
              <a:t>Detect</a:t>
            </a:r>
            <a:endParaRPr sz="1100"/>
          </a:p>
        </p:txBody>
      </p:sp>
      <p:sp>
        <p:nvSpPr>
          <p:cNvPr id="299" name="Google Shape;299;p29"/>
          <p:cNvSpPr/>
          <p:nvPr/>
        </p:nvSpPr>
        <p:spPr>
          <a:xfrm>
            <a:off x="1028700" y="4464844"/>
            <a:ext cx="15000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Flag values above 24 hours/day.</a:t>
            </a:r>
            <a:endParaRPr sz="1100"/>
          </a:p>
        </p:txBody>
      </p:sp>
      <p:sp>
        <p:nvSpPr>
          <p:cNvPr id="300" name="Google Shape;300;p29"/>
          <p:cNvSpPr/>
          <p:nvPr/>
        </p:nvSpPr>
        <p:spPr>
          <a:xfrm>
            <a:off x="3143250" y="4286250"/>
            <a:ext cx="342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243A5C"/>
                </a:solidFill>
              </a:rPr>
              <a:t>02</a:t>
            </a:r>
            <a:endParaRPr sz="1100"/>
          </a:p>
        </p:txBody>
      </p:sp>
      <p:sp>
        <p:nvSpPr>
          <p:cNvPr id="301" name="Google Shape;301;p29"/>
          <p:cNvSpPr/>
          <p:nvPr/>
        </p:nvSpPr>
        <p:spPr>
          <a:xfrm>
            <a:off x="3529013" y="4271963"/>
            <a:ext cx="1143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72033"/>
                </a:solidFill>
              </a:rPr>
              <a:t>Validate</a:t>
            </a:r>
            <a:endParaRPr sz="1100"/>
          </a:p>
        </p:txBody>
      </p:sp>
      <p:sp>
        <p:nvSpPr>
          <p:cNvPr id="302" name="Google Shape;302;p29"/>
          <p:cNvSpPr/>
          <p:nvPr/>
        </p:nvSpPr>
        <p:spPr>
          <a:xfrm>
            <a:off x="3529013" y="4464844"/>
            <a:ext cx="15000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Confirm they are impossible observations.</a:t>
            </a:r>
            <a:endParaRPr sz="1100"/>
          </a:p>
        </p:txBody>
      </p:sp>
      <p:sp>
        <p:nvSpPr>
          <p:cNvPr id="303" name="Google Shape;303;p29"/>
          <p:cNvSpPr/>
          <p:nvPr/>
        </p:nvSpPr>
        <p:spPr>
          <a:xfrm>
            <a:off x="5643563" y="4286250"/>
            <a:ext cx="342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466E99"/>
                </a:solidFill>
              </a:rPr>
              <a:t>03</a:t>
            </a:r>
            <a:endParaRPr sz="1100"/>
          </a:p>
        </p:txBody>
      </p:sp>
      <p:sp>
        <p:nvSpPr>
          <p:cNvPr id="304" name="Google Shape;304;p29"/>
          <p:cNvSpPr/>
          <p:nvPr/>
        </p:nvSpPr>
        <p:spPr>
          <a:xfrm>
            <a:off x="6029325" y="4271963"/>
            <a:ext cx="1143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72033"/>
                </a:solidFill>
              </a:rPr>
              <a:t>Remove</a:t>
            </a:r>
            <a:endParaRPr sz="1100"/>
          </a:p>
        </p:txBody>
      </p:sp>
      <p:sp>
        <p:nvSpPr>
          <p:cNvPr id="305" name="Google Shape;305;p29"/>
          <p:cNvSpPr/>
          <p:nvPr/>
        </p:nvSpPr>
        <p:spPr>
          <a:xfrm>
            <a:off x="6029325" y="4464844"/>
            <a:ext cx="15000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Model the remaining 4,990 valid records.</a:t>
            </a:r>
            <a:endParaRPr sz="1100"/>
          </a:p>
        </p:txBody>
      </p:sp>
      <p:sp>
        <p:nvSpPr>
          <p:cNvPr id="306" name="Google Shape;306;p29"/>
          <p:cNvSpPr/>
          <p:nvPr/>
        </p:nvSpPr>
        <p:spPr>
          <a:xfrm>
            <a:off x="514350" y="4857750"/>
            <a:ext cx="3571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A8798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307" name="Google Shape;307;p29"/>
          <p:cNvSpPr/>
          <p:nvPr/>
        </p:nvSpPr>
        <p:spPr>
          <a:xfrm>
            <a:off x="8372475" y="4829175"/>
            <a:ext cx="257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A8798"/>
                </a:solidFill>
              </a:rPr>
              <a:t>8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0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0"/>
          <p:cNvSpPr/>
          <p:nvPr/>
        </p:nvSpPr>
        <p:spPr>
          <a:xfrm>
            <a:off x="514350" y="357188"/>
            <a:ext cx="328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DATA PREPARATION • CLEANING COMPLETE</a:t>
            </a:r>
            <a:endParaRPr sz="1100"/>
          </a:p>
        </p:txBody>
      </p:sp>
      <p:sp>
        <p:nvSpPr>
          <p:cNvPr id="315" name="Google Shape;315;p30"/>
          <p:cNvSpPr/>
          <p:nvPr/>
        </p:nvSpPr>
        <p:spPr>
          <a:xfrm>
            <a:off x="514350" y="600075"/>
            <a:ext cx="657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The dataset is clean and model-ready</a:t>
            </a:r>
            <a:endParaRPr sz="1100"/>
          </a:p>
        </p:txBody>
      </p:sp>
      <p:sp>
        <p:nvSpPr>
          <p:cNvPr id="316" name="Google Shape;316;p30"/>
          <p:cNvSpPr/>
          <p:nvPr/>
        </p:nvSpPr>
        <p:spPr>
          <a:xfrm>
            <a:off x="514350" y="1035844"/>
            <a:ext cx="78582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174"/>
                </a:solidFill>
              </a:rPr>
              <a:t>Data cleaning preserved nearly all customer records while removing invalid engagement values that could bias the analysis.</a:t>
            </a:r>
            <a:endParaRPr sz="1100"/>
          </a:p>
        </p:txBody>
      </p:sp>
      <p:sp>
        <p:nvSpPr>
          <p:cNvPr id="317" name="Google Shape;317;p30"/>
          <p:cNvSpPr/>
          <p:nvPr/>
        </p:nvSpPr>
        <p:spPr>
          <a:xfrm>
            <a:off x="514350" y="1771650"/>
            <a:ext cx="2500500" cy="1586100"/>
          </a:xfrm>
          <a:prstGeom prst="roundRect">
            <a:avLst>
              <a:gd fmla="val 5405" name="adj"/>
            </a:avLst>
          </a:prstGeom>
          <a:solidFill>
            <a:srgbClr val="243A5C"/>
          </a:solidFill>
          <a:ln cap="flat" cmpd="sng" w="7150">
            <a:solidFill>
              <a:srgbClr val="24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742950" y="1985963"/>
            <a:ext cx="17859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D7D9"/>
                </a:solidFill>
              </a:rPr>
              <a:t>ORIGINAL DATASET</a:t>
            </a:r>
            <a:endParaRPr sz="1100"/>
          </a:p>
        </p:txBody>
      </p:sp>
      <p:sp>
        <p:nvSpPr>
          <p:cNvPr id="319" name="Google Shape;319;p30"/>
          <p:cNvSpPr/>
          <p:nvPr/>
        </p:nvSpPr>
        <p:spPr>
          <a:xfrm>
            <a:off x="742950" y="2293144"/>
            <a:ext cx="1571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</a:rPr>
              <a:t>5,000</a:t>
            </a:r>
            <a:endParaRPr sz="1100"/>
          </a:p>
        </p:txBody>
      </p:sp>
      <p:sp>
        <p:nvSpPr>
          <p:cNvPr id="320" name="Google Shape;320;p30"/>
          <p:cNvSpPr/>
          <p:nvPr/>
        </p:nvSpPr>
        <p:spPr>
          <a:xfrm>
            <a:off x="757238" y="2707481"/>
            <a:ext cx="15717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AF0F6"/>
                </a:solidFill>
              </a:rPr>
              <a:t>customer records</a:t>
            </a:r>
            <a:endParaRPr sz="1100"/>
          </a:p>
        </p:txBody>
      </p:sp>
      <p:sp>
        <p:nvSpPr>
          <p:cNvPr id="321" name="Google Shape;321;p30"/>
          <p:cNvSpPr/>
          <p:nvPr/>
        </p:nvSpPr>
        <p:spPr>
          <a:xfrm>
            <a:off x="757238" y="3007519"/>
            <a:ext cx="12858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14 features</a:t>
            </a:r>
            <a:endParaRPr sz="1100"/>
          </a:p>
        </p:txBody>
      </p:sp>
      <p:sp>
        <p:nvSpPr>
          <p:cNvPr id="322" name="Google Shape;322;p30"/>
          <p:cNvSpPr/>
          <p:nvPr/>
        </p:nvSpPr>
        <p:spPr>
          <a:xfrm>
            <a:off x="3371850" y="2328863"/>
            <a:ext cx="2000100" cy="48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0"/>
          <p:cNvSpPr/>
          <p:nvPr/>
        </p:nvSpPr>
        <p:spPr>
          <a:xfrm>
            <a:off x="3429000" y="2407444"/>
            <a:ext cx="160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REMOVE 10 INVALID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WATCH-TIME RECORDS</a:t>
            </a:r>
            <a:endParaRPr sz="1100"/>
          </a:p>
        </p:txBody>
      </p:sp>
      <p:sp>
        <p:nvSpPr>
          <p:cNvPr id="324" name="Google Shape;324;p30"/>
          <p:cNvSpPr/>
          <p:nvPr/>
        </p:nvSpPr>
        <p:spPr>
          <a:xfrm>
            <a:off x="3464719" y="2950369"/>
            <a:ext cx="1714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Values above 24 hours/day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are not physically possible.</a:t>
            </a:r>
            <a:endParaRPr sz="1100"/>
          </a:p>
        </p:txBody>
      </p:sp>
      <p:sp>
        <p:nvSpPr>
          <p:cNvPr id="325" name="Google Shape;325;p30"/>
          <p:cNvSpPr/>
          <p:nvPr/>
        </p:nvSpPr>
        <p:spPr>
          <a:xfrm>
            <a:off x="6129338" y="1771650"/>
            <a:ext cx="2500500" cy="1586100"/>
          </a:xfrm>
          <a:prstGeom prst="roundRect">
            <a:avLst>
              <a:gd fmla="val 5405" name="adj"/>
            </a:avLst>
          </a:prstGeom>
          <a:solidFill>
            <a:srgbClr val="466E99"/>
          </a:solidFill>
          <a:ln cap="flat" cmpd="sng" w="7150">
            <a:solidFill>
              <a:srgbClr val="466E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0"/>
          <p:cNvSpPr/>
          <p:nvPr/>
        </p:nvSpPr>
        <p:spPr>
          <a:xfrm>
            <a:off x="6357938" y="1985963"/>
            <a:ext cx="17859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AF0F6"/>
                </a:solidFill>
              </a:rPr>
              <a:t>CLEANED DATASET</a:t>
            </a:r>
            <a:endParaRPr sz="1100"/>
          </a:p>
        </p:txBody>
      </p:sp>
      <p:sp>
        <p:nvSpPr>
          <p:cNvPr id="327" name="Google Shape;327;p30"/>
          <p:cNvSpPr/>
          <p:nvPr/>
        </p:nvSpPr>
        <p:spPr>
          <a:xfrm>
            <a:off x="6357938" y="2293144"/>
            <a:ext cx="1571700" cy="3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</a:rPr>
              <a:t>4,990</a:t>
            </a:r>
            <a:endParaRPr sz="1100"/>
          </a:p>
        </p:txBody>
      </p:sp>
      <p:sp>
        <p:nvSpPr>
          <p:cNvPr id="328" name="Google Shape;328;p30"/>
          <p:cNvSpPr/>
          <p:nvPr/>
        </p:nvSpPr>
        <p:spPr>
          <a:xfrm>
            <a:off x="6372225" y="2707481"/>
            <a:ext cx="17859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EAF0F6"/>
                </a:solidFill>
              </a:rPr>
              <a:t>valid customer records</a:t>
            </a:r>
            <a:endParaRPr sz="1100"/>
          </a:p>
        </p:txBody>
      </p:sp>
      <p:sp>
        <p:nvSpPr>
          <p:cNvPr id="329" name="Google Shape;329;p30"/>
          <p:cNvSpPr/>
          <p:nvPr/>
        </p:nvSpPr>
        <p:spPr>
          <a:xfrm>
            <a:off x="6372225" y="3007519"/>
            <a:ext cx="15717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14 features retained</a:t>
            </a:r>
            <a:endParaRPr sz="1100"/>
          </a:p>
        </p:txBody>
      </p:sp>
      <p:sp>
        <p:nvSpPr>
          <p:cNvPr id="330" name="Google Shape;330;p30"/>
          <p:cNvSpPr/>
          <p:nvPr/>
        </p:nvSpPr>
        <p:spPr>
          <a:xfrm>
            <a:off x="514350" y="3607594"/>
            <a:ext cx="1857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VALIDATION CHECKS</a:t>
            </a:r>
            <a:endParaRPr sz="1100"/>
          </a:p>
        </p:txBody>
      </p:sp>
      <p:sp>
        <p:nvSpPr>
          <p:cNvPr id="331" name="Google Shape;331;p30"/>
          <p:cNvSpPr/>
          <p:nvPr/>
        </p:nvSpPr>
        <p:spPr>
          <a:xfrm>
            <a:off x="514350" y="3893344"/>
            <a:ext cx="243000" cy="243000"/>
          </a:xfrm>
          <a:prstGeom prst="ellipse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0"/>
          <p:cNvSpPr/>
          <p:nvPr/>
        </p:nvSpPr>
        <p:spPr>
          <a:xfrm>
            <a:off x="557213" y="3900488"/>
            <a:ext cx="1572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✓</a:t>
            </a:r>
            <a:endParaRPr sz="1100"/>
          </a:p>
        </p:txBody>
      </p:sp>
      <p:sp>
        <p:nvSpPr>
          <p:cNvPr id="333" name="Google Shape;333;p30"/>
          <p:cNvSpPr/>
          <p:nvPr/>
        </p:nvSpPr>
        <p:spPr>
          <a:xfrm>
            <a:off x="871538" y="3864769"/>
            <a:ext cx="17145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No missing values</a:t>
            </a:r>
            <a:endParaRPr sz="1100"/>
          </a:p>
        </p:txBody>
      </p:sp>
      <p:sp>
        <p:nvSpPr>
          <p:cNvPr id="334" name="Google Shape;334;p30"/>
          <p:cNvSpPr/>
          <p:nvPr/>
        </p:nvSpPr>
        <p:spPr>
          <a:xfrm>
            <a:off x="871538" y="4064794"/>
            <a:ext cx="17859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All required fields were present.</a:t>
            </a:r>
            <a:endParaRPr sz="1100"/>
          </a:p>
        </p:txBody>
      </p:sp>
      <p:sp>
        <p:nvSpPr>
          <p:cNvPr id="335" name="Google Shape;335;p30"/>
          <p:cNvSpPr/>
          <p:nvPr/>
        </p:nvSpPr>
        <p:spPr>
          <a:xfrm>
            <a:off x="3214688" y="3893344"/>
            <a:ext cx="243000" cy="243000"/>
          </a:xfrm>
          <a:prstGeom prst="ellipse">
            <a:avLst/>
          </a:prstGeom>
          <a:solidFill>
            <a:srgbClr val="243A5C"/>
          </a:solidFill>
          <a:ln cap="flat" cmpd="sng" w="7150">
            <a:solidFill>
              <a:srgbClr val="24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0"/>
          <p:cNvSpPr/>
          <p:nvPr/>
        </p:nvSpPr>
        <p:spPr>
          <a:xfrm>
            <a:off x="3257550" y="3900488"/>
            <a:ext cx="1572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✓</a:t>
            </a:r>
            <a:endParaRPr sz="1100"/>
          </a:p>
        </p:txBody>
      </p:sp>
      <p:sp>
        <p:nvSpPr>
          <p:cNvPr id="337" name="Google Shape;337;p30"/>
          <p:cNvSpPr/>
          <p:nvPr/>
        </p:nvSpPr>
        <p:spPr>
          <a:xfrm>
            <a:off x="3571875" y="3864769"/>
            <a:ext cx="17145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No duplicate records</a:t>
            </a:r>
            <a:endParaRPr sz="1100"/>
          </a:p>
        </p:txBody>
      </p:sp>
      <p:sp>
        <p:nvSpPr>
          <p:cNvPr id="338" name="Google Shape;338;p30"/>
          <p:cNvSpPr/>
          <p:nvPr/>
        </p:nvSpPr>
        <p:spPr>
          <a:xfrm>
            <a:off x="3571875" y="4064794"/>
            <a:ext cx="17859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Each customer ID remained unique.</a:t>
            </a:r>
            <a:endParaRPr sz="1100"/>
          </a:p>
        </p:txBody>
      </p:sp>
      <p:sp>
        <p:nvSpPr>
          <p:cNvPr id="339" name="Google Shape;339;p30"/>
          <p:cNvSpPr/>
          <p:nvPr/>
        </p:nvSpPr>
        <p:spPr>
          <a:xfrm>
            <a:off x="5915025" y="3893344"/>
            <a:ext cx="243000" cy="243000"/>
          </a:xfrm>
          <a:prstGeom prst="ellipse">
            <a:avLst/>
          </a:prstGeom>
          <a:solidFill>
            <a:srgbClr val="466E99"/>
          </a:solidFill>
          <a:ln cap="flat" cmpd="sng" w="7150">
            <a:solidFill>
              <a:srgbClr val="466E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0"/>
          <p:cNvSpPr/>
          <p:nvPr/>
        </p:nvSpPr>
        <p:spPr>
          <a:xfrm>
            <a:off x="5957888" y="3900488"/>
            <a:ext cx="1572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✓</a:t>
            </a:r>
            <a:endParaRPr sz="1100"/>
          </a:p>
        </p:txBody>
      </p:sp>
      <p:sp>
        <p:nvSpPr>
          <p:cNvPr id="341" name="Google Shape;341;p30"/>
          <p:cNvSpPr/>
          <p:nvPr/>
        </p:nvSpPr>
        <p:spPr>
          <a:xfrm>
            <a:off x="6272213" y="3864769"/>
            <a:ext cx="17145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Valid engagement values</a:t>
            </a:r>
            <a:endParaRPr sz="1100"/>
          </a:p>
        </p:txBody>
      </p:sp>
      <p:sp>
        <p:nvSpPr>
          <p:cNvPr id="342" name="Google Shape;342;p30"/>
          <p:cNvSpPr/>
          <p:nvPr/>
        </p:nvSpPr>
        <p:spPr>
          <a:xfrm>
            <a:off x="6272213" y="4064794"/>
            <a:ext cx="17859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Average daily watch time ≤ 24 hours.</a:t>
            </a:r>
            <a:endParaRPr sz="1100"/>
          </a:p>
        </p:txBody>
      </p:sp>
      <p:sp>
        <p:nvSpPr>
          <p:cNvPr id="343" name="Google Shape;343;p30"/>
          <p:cNvSpPr/>
          <p:nvPr/>
        </p:nvSpPr>
        <p:spPr>
          <a:xfrm>
            <a:off x="514350" y="4857750"/>
            <a:ext cx="3571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A8798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344" name="Google Shape;344;p30"/>
          <p:cNvSpPr/>
          <p:nvPr/>
        </p:nvSpPr>
        <p:spPr>
          <a:xfrm>
            <a:off x="8372475" y="4829175"/>
            <a:ext cx="257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A8798"/>
                </a:solidFill>
              </a:rPr>
              <a:t>9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1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1"/>
          <p:cNvSpPr/>
          <p:nvPr/>
        </p:nvSpPr>
        <p:spPr>
          <a:xfrm>
            <a:off x="514350" y="357188"/>
            <a:ext cx="3357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DATA PREPARATION • FEATURE ENGINEERING</a:t>
            </a:r>
            <a:endParaRPr sz="1100"/>
          </a:p>
        </p:txBody>
      </p:sp>
      <p:sp>
        <p:nvSpPr>
          <p:cNvPr id="352" name="Google Shape;352;p31"/>
          <p:cNvSpPr/>
          <p:nvPr/>
        </p:nvSpPr>
        <p:spPr>
          <a:xfrm>
            <a:off x="514350" y="600075"/>
            <a:ext cx="68580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Turning raw metrics into customer signals</a:t>
            </a:r>
            <a:endParaRPr sz="1100"/>
          </a:p>
        </p:txBody>
      </p:sp>
      <p:sp>
        <p:nvSpPr>
          <p:cNvPr id="353" name="Google Shape;353;p31"/>
          <p:cNvSpPr/>
          <p:nvPr/>
        </p:nvSpPr>
        <p:spPr>
          <a:xfrm>
            <a:off x="514350" y="1035844"/>
            <a:ext cx="77868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174"/>
                </a:solidFill>
              </a:rPr>
              <a:t>Four derived features make engagement, value, risk, and demographic patterns easier to analyze and use in churn modeling.</a:t>
            </a:r>
            <a:endParaRPr sz="1100"/>
          </a:p>
        </p:txBody>
      </p:sp>
      <p:sp>
        <p:nvSpPr>
          <p:cNvPr id="354" name="Google Shape;354;p31"/>
          <p:cNvSpPr/>
          <p:nvPr/>
        </p:nvSpPr>
        <p:spPr>
          <a:xfrm>
            <a:off x="514350" y="1757363"/>
            <a:ext cx="17145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RAW CUSTOMER DATA</a:t>
            </a:r>
            <a:endParaRPr sz="1100"/>
          </a:p>
        </p:txBody>
      </p:sp>
      <p:sp>
        <p:nvSpPr>
          <p:cNvPr id="355" name="Google Shape;355;p31"/>
          <p:cNvSpPr/>
          <p:nvPr/>
        </p:nvSpPr>
        <p:spPr>
          <a:xfrm>
            <a:off x="514350" y="2021681"/>
            <a:ext cx="2000100" cy="8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243A5C"/>
                </a:solidFill>
              </a:rPr>
              <a:t>Watch hours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243A5C"/>
                </a:solidFill>
              </a:rPr>
              <a:t>Monthly fee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243A5C"/>
                </a:solidFill>
              </a:rPr>
              <a:t>Last login days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243A5C"/>
                </a:solidFill>
              </a:rPr>
              <a:t>Age and profiles</a:t>
            </a:r>
            <a:endParaRPr sz="1100"/>
          </a:p>
        </p:txBody>
      </p:sp>
      <p:sp>
        <p:nvSpPr>
          <p:cNvPr id="356" name="Google Shape;356;p31"/>
          <p:cNvSpPr/>
          <p:nvPr/>
        </p:nvSpPr>
        <p:spPr>
          <a:xfrm>
            <a:off x="514350" y="3100388"/>
            <a:ext cx="280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26174"/>
                </a:solidFill>
              </a:rPr>
              <a:t>Individual fields are useful, but combining them creates a clearer picture of each subscriber.</a:t>
            </a:r>
            <a:endParaRPr sz="1100"/>
          </a:p>
        </p:txBody>
      </p:sp>
      <p:cxnSp>
        <p:nvCxnSpPr>
          <p:cNvPr id="357" name="Google Shape;357;p31"/>
          <p:cNvCxnSpPr/>
          <p:nvPr/>
        </p:nvCxnSpPr>
        <p:spPr>
          <a:xfrm>
            <a:off x="535781" y="3821906"/>
            <a:ext cx="3086100" cy="0"/>
          </a:xfrm>
          <a:prstGeom prst="straightConnector1">
            <a:avLst/>
          </a:prstGeom>
          <a:noFill/>
          <a:ln cap="flat" cmpd="sng" w="21425">
            <a:solidFill>
              <a:srgbClr val="CBD4D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8" name="Google Shape;358;p31"/>
          <p:cNvSpPr/>
          <p:nvPr/>
        </p:nvSpPr>
        <p:spPr>
          <a:xfrm>
            <a:off x="3000375" y="3700463"/>
            <a:ext cx="714300" cy="24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1"/>
          <p:cNvSpPr/>
          <p:nvPr/>
        </p:nvSpPr>
        <p:spPr>
          <a:xfrm>
            <a:off x="535781" y="4000500"/>
            <a:ext cx="928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ENGINEER</a:t>
            </a:r>
            <a:endParaRPr sz="1100"/>
          </a:p>
        </p:txBody>
      </p:sp>
      <p:sp>
        <p:nvSpPr>
          <p:cNvPr id="360" name="Google Shape;360;p31"/>
          <p:cNvSpPr/>
          <p:nvPr/>
        </p:nvSpPr>
        <p:spPr>
          <a:xfrm>
            <a:off x="535781" y="4200525"/>
            <a:ext cx="2893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526174"/>
                </a:solidFill>
              </a:rPr>
              <a:t>Derived measures support more useful segmentation and prediction.</a:t>
            </a:r>
            <a:endParaRPr sz="1100"/>
          </a:p>
        </p:txBody>
      </p:sp>
      <p:sp>
        <p:nvSpPr>
          <p:cNvPr id="361" name="Google Shape;361;p31"/>
          <p:cNvSpPr/>
          <p:nvPr/>
        </p:nvSpPr>
        <p:spPr>
          <a:xfrm>
            <a:off x="4357688" y="1507331"/>
            <a:ext cx="24288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NEW ANALYTICAL FEATURES</a:t>
            </a:r>
            <a:endParaRPr sz="1100"/>
          </a:p>
        </p:txBody>
      </p:sp>
      <p:sp>
        <p:nvSpPr>
          <p:cNvPr id="362" name="Google Shape;362;p31"/>
          <p:cNvSpPr/>
          <p:nvPr/>
        </p:nvSpPr>
        <p:spPr>
          <a:xfrm>
            <a:off x="4357688" y="1757363"/>
            <a:ext cx="4215000" cy="585900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7150">
            <a:solidFill>
              <a:srgbClr val="F2C6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1"/>
          <p:cNvSpPr/>
          <p:nvPr/>
        </p:nvSpPr>
        <p:spPr>
          <a:xfrm>
            <a:off x="4471988" y="1871663"/>
            <a:ext cx="342900" cy="342900"/>
          </a:xfrm>
          <a:prstGeom prst="roundRect">
            <a:avLst>
              <a:gd fmla="val 25000" name="adj"/>
            </a:avLst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1"/>
          <p:cNvSpPr/>
          <p:nvPr/>
        </p:nvSpPr>
        <p:spPr>
          <a:xfrm>
            <a:off x="4557713" y="1935956"/>
            <a:ext cx="1716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1</a:t>
            </a:r>
            <a:endParaRPr sz="1100"/>
          </a:p>
        </p:txBody>
      </p:sp>
      <p:sp>
        <p:nvSpPr>
          <p:cNvPr id="365" name="Google Shape;365;p31"/>
          <p:cNvSpPr/>
          <p:nvPr/>
        </p:nvSpPr>
        <p:spPr>
          <a:xfrm>
            <a:off x="4972050" y="1885950"/>
            <a:ext cx="2143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72033"/>
                </a:solidFill>
              </a:rPr>
              <a:t>watch_hours_per_profile</a:t>
            </a:r>
            <a:endParaRPr sz="1100"/>
          </a:p>
        </p:txBody>
      </p:sp>
      <p:sp>
        <p:nvSpPr>
          <p:cNvPr id="366" name="Google Shape;366;p31"/>
          <p:cNvSpPr/>
          <p:nvPr/>
        </p:nvSpPr>
        <p:spPr>
          <a:xfrm>
            <a:off x="4972050" y="2093119"/>
            <a:ext cx="3214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Normalizes viewing by the number of profiles on an account.</a:t>
            </a:r>
            <a:endParaRPr sz="1100"/>
          </a:p>
        </p:txBody>
      </p:sp>
      <p:sp>
        <p:nvSpPr>
          <p:cNvPr id="367" name="Google Shape;367;p31"/>
          <p:cNvSpPr/>
          <p:nvPr/>
        </p:nvSpPr>
        <p:spPr>
          <a:xfrm>
            <a:off x="4357688" y="2428875"/>
            <a:ext cx="4215000" cy="585900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7150">
            <a:solidFill>
              <a:srgbClr val="CED8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1"/>
          <p:cNvSpPr/>
          <p:nvPr/>
        </p:nvSpPr>
        <p:spPr>
          <a:xfrm>
            <a:off x="4471988" y="2543175"/>
            <a:ext cx="342900" cy="342900"/>
          </a:xfrm>
          <a:prstGeom prst="roundRect">
            <a:avLst>
              <a:gd fmla="val 25000" name="adj"/>
            </a:avLst>
          </a:prstGeom>
          <a:solidFill>
            <a:srgbClr val="243A5C"/>
          </a:solidFill>
          <a:ln cap="flat" cmpd="sng" w="7150">
            <a:solidFill>
              <a:srgbClr val="24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1"/>
          <p:cNvSpPr/>
          <p:nvPr/>
        </p:nvSpPr>
        <p:spPr>
          <a:xfrm>
            <a:off x="4557713" y="2607469"/>
            <a:ext cx="1716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2</a:t>
            </a:r>
            <a:endParaRPr sz="1100"/>
          </a:p>
        </p:txBody>
      </p:sp>
      <p:sp>
        <p:nvSpPr>
          <p:cNvPr id="370" name="Google Shape;370;p31"/>
          <p:cNvSpPr/>
          <p:nvPr/>
        </p:nvSpPr>
        <p:spPr>
          <a:xfrm>
            <a:off x="4972050" y="2557463"/>
            <a:ext cx="2143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72033"/>
                </a:solidFill>
              </a:rPr>
              <a:t>monthly_fee_per_profile</a:t>
            </a:r>
            <a:endParaRPr sz="1100"/>
          </a:p>
        </p:txBody>
      </p:sp>
      <p:sp>
        <p:nvSpPr>
          <p:cNvPr id="371" name="Google Shape;371;p31"/>
          <p:cNvSpPr/>
          <p:nvPr/>
        </p:nvSpPr>
        <p:spPr>
          <a:xfrm>
            <a:off x="4972050" y="2764631"/>
            <a:ext cx="3214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Shows the monthly cost allocated to each account profile.</a:t>
            </a:r>
            <a:endParaRPr sz="1100"/>
          </a:p>
        </p:txBody>
      </p:sp>
      <p:sp>
        <p:nvSpPr>
          <p:cNvPr id="372" name="Google Shape;372;p31"/>
          <p:cNvSpPr/>
          <p:nvPr/>
        </p:nvSpPr>
        <p:spPr>
          <a:xfrm>
            <a:off x="4357688" y="3100388"/>
            <a:ext cx="4215000" cy="585900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7150">
            <a:solidFill>
              <a:srgbClr val="C9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1"/>
          <p:cNvSpPr/>
          <p:nvPr/>
        </p:nvSpPr>
        <p:spPr>
          <a:xfrm>
            <a:off x="4471988" y="3214688"/>
            <a:ext cx="342900" cy="342900"/>
          </a:xfrm>
          <a:prstGeom prst="roundRect">
            <a:avLst>
              <a:gd fmla="val 25000" name="adj"/>
            </a:avLst>
          </a:prstGeom>
          <a:solidFill>
            <a:srgbClr val="466E99"/>
          </a:solidFill>
          <a:ln cap="flat" cmpd="sng" w="7150">
            <a:solidFill>
              <a:srgbClr val="466E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1"/>
          <p:cNvSpPr/>
          <p:nvPr/>
        </p:nvSpPr>
        <p:spPr>
          <a:xfrm>
            <a:off x="4557713" y="3278981"/>
            <a:ext cx="1716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3</a:t>
            </a:r>
            <a:endParaRPr sz="1100"/>
          </a:p>
        </p:txBody>
      </p:sp>
      <p:sp>
        <p:nvSpPr>
          <p:cNvPr id="375" name="Google Shape;375;p31"/>
          <p:cNvSpPr/>
          <p:nvPr/>
        </p:nvSpPr>
        <p:spPr>
          <a:xfrm>
            <a:off x="4972050" y="3228975"/>
            <a:ext cx="2143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72033"/>
                </a:solidFill>
              </a:rPr>
              <a:t>inactivity_risk</a:t>
            </a:r>
            <a:endParaRPr sz="1100"/>
          </a:p>
        </p:txBody>
      </p:sp>
      <p:sp>
        <p:nvSpPr>
          <p:cNvPr id="376" name="Google Shape;376;p31"/>
          <p:cNvSpPr/>
          <p:nvPr/>
        </p:nvSpPr>
        <p:spPr>
          <a:xfrm>
            <a:off x="4972050" y="3436144"/>
            <a:ext cx="3214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Groups subscribers by recency of login activity for risk analysis.</a:t>
            </a:r>
            <a:endParaRPr sz="1100"/>
          </a:p>
        </p:txBody>
      </p:sp>
      <p:sp>
        <p:nvSpPr>
          <p:cNvPr id="377" name="Google Shape;377;p31"/>
          <p:cNvSpPr/>
          <p:nvPr/>
        </p:nvSpPr>
        <p:spPr>
          <a:xfrm>
            <a:off x="4357688" y="3771900"/>
            <a:ext cx="4215000" cy="585900"/>
          </a:xfrm>
          <a:prstGeom prst="roundRect">
            <a:avLst>
              <a:gd fmla="val 14634" name="adj"/>
            </a:avLst>
          </a:prstGeom>
          <a:solidFill>
            <a:srgbClr val="FFFFFF"/>
          </a:solidFill>
          <a:ln cap="flat" cmpd="sng" w="7150">
            <a:solidFill>
              <a:srgbClr val="EAC6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1"/>
          <p:cNvSpPr/>
          <p:nvPr/>
        </p:nvSpPr>
        <p:spPr>
          <a:xfrm>
            <a:off x="4471988" y="3886200"/>
            <a:ext cx="342900" cy="342900"/>
          </a:xfrm>
          <a:prstGeom prst="roundRect">
            <a:avLst>
              <a:gd fmla="val 25000" name="adj"/>
            </a:avLst>
          </a:prstGeom>
          <a:solidFill>
            <a:srgbClr val="8D1A23"/>
          </a:solidFill>
          <a:ln cap="flat" cmpd="sng" w="7150">
            <a:solidFill>
              <a:srgbClr val="8D1A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1"/>
          <p:cNvSpPr/>
          <p:nvPr/>
        </p:nvSpPr>
        <p:spPr>
          <a:xfrm>
            <a:off x="4557713" y="3950494"/>
            <a:ext cx="1716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4</a:t>
            </a:r>
            <a:endParaRPr sz="1100"/>
          </a:p>
        </p:txBody>
      </p:sp>
      <p:sp>
        <p:nvSpPr>
          <p:cNvPr id="380" name="Google Shape;380;p31"/>
          <p:cNvSpPr/>
          <p:nvPr/>
        </p:nvSpPr>
        <p:spPr>
          <a:xfrm>
            <a:off x="4972050" y="3900488"/>
            <a:ext cx="21432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72033"/>
                </a:solidFill>
              </a:rPr>
              <a:t>age_group</a:t>
            </a:r>
            <a:endParaRPr sz="1100"/>
          </a:p>
        </p:txBody>
      </p:sp>
      <p:sp>
        <p:nvSpPr>
          <p:cNvPr id="381" name="Google Shape;381;p31"/>
          <p:cNvSpPr/>
          <p:nvPr/>
        </p:nvSpPr>
        <p:spPr>
          <a:xfrm>
            <a:off x="4972050" y="4107656"/>
            <a:ext cx="3214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Converts age into business-friendly demographic segments.</a:t>
            </a:r>
            <a:endParaRPr sz="1100"/>
          </a:p>
        </p:txBody>
      </p:sp>
      <p:sp>
        <p:nvSpPr>
          <p:cNvPr id="382" name="Google Shape;382;p31"/>
          <p:cNvSpPr/>
          <p:nvPr/>
        </p:nvSpPr>
        <p:spPr>
          <a:xfrm>
            <a:off x="514350" y="4857750"/>
            <a:ext cx="3571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A8798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383" name="Google Shape;383;p31"/>
          <p:cNvSpPr/>
          <p:nvPr/>
        </p:nvSpPr>
        <p:spPr>
          <a:xfrm>
            <a:off x="8343900" y="4829175"/>
            <a:ext cx="285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A8798"/>
                </a:solidFill>
              </a:rPr>
              <a:t>10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2"/>
          <p:cNvSpPr/>
          <p:nvPr/>
        </p:nvSpPr>
        <p:spPr>
          <a:xfrm>
            <a:off x="514350" y="357188"/>
            <a:ext cx="40005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DESCRIPTIVE ANALYTICS • OVERALL CHURN</a:t>
            </a:r>
            <a:endParaRPr sz="1100"/>
          </a:p>
        </p:txBody>
      </p:sp>
      <p:sp>
        <p:nvSpPr>
          <p:cNvPr id="391" name="Google Shape;391;p32"/>
          <p:cNvSpPr/>
          <p:nvPr/>
        </p:nvSpPr>
        <p:spPr>
          <a:xfrm>
            <a:off x="514350" y="4857750"/>
            <a:ext cx="3571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A8798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392" name="Google Shape;392;p32"/>
          <p:cNvSpPr/>
          <p:nvPr/>
        </p:nvSpPr>
        <p:spPr>
          <a:xfrm>
            <a:off x="8343900" y="4829175"/>
            <a:ext cx="285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A8798"/>
                </a:solidFill>
              </a:rPr>
              <a:t>11</a:t>
            </a:r>
            <a:endParaRPr sz="1100"/>
          </a:p>
        </p:txBody>
      </p:sp>
      <p:sp>
        <p:nvSpPr>
          <p:cNvPr id="393" name="Google Shape;393;p32"/>
          <p:cNvSpPr/>
          <p:nvPr/>
        </p:nvSpPr>
        <p:spPr>
          <a:xfrm>
            <a:off x="514350" y="614363"/>
            <a:ext cx="64293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Churn affects about half of subscribers</a:t>
            </a:r>
            <a:endParaRPr sz="1100"/>
          </a:p>
        </p:txBody>
      </p:sp>
      <p:sp>
        <p:nvSpPr>
          <p:cNvPr id="394" name="Google Shape;394;p32"/>
          <p:cNvSpPr/>
          <p:nvPr/>
        </p:nvSpPr>
        <p:spPr>
          <a:xfrm>
            <a:off x="514350" y="1042988"/>
            <a:ext cx="7501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174"/>
                </a:solidFill>
              </a:rPr>
              <a:t>Descriptive analytics summarizes the current customer base before examining drivers or making predictions.</a:t>
            </a:r>
            <a:endParaRPr sz="1100"/>
          </a:p>
        </p:txBody>
      </p:sp>
      <p:sp>
        <p:nvSpPr>
          <p:cNvPr id="395" name="Google Shape;395;p32"/>
          <p:cNvSpPr/>
          <p:nvPr/>
        </p:nvSpPr>
        <p:spPr>
          <a:xfrm>
            <a:off x="514350" y="1685925"/>
            <a:ext cx="3571800" cy="2000100"/>
          </a:xfrm>
          <a:prstGeom prst="roundRect">
            <a:avLst>
              <a:gd fmla="val 4286" name="adj"/>
            </a:avLst>
          </a:prstGeom>
          <a:solidFill>
            <a:srgbClr val="243A5C"/>
          </a:solidFill>
          <a:ln cap="flat" cmpd="sng" w="7150">
            <a:solidFill>
              <a:srgbClr val="24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2"/>
          <p:cNvSpPr/>
          <p:nvPr/>
        </p:nvSpPr>
        <p:spPr>
          <a:xfrm>
            <a:off x="785813" y="1943100"/>
            <a:ext cx="20001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D7D9"/>
                </a:solidFill>
              </a:rPr>
              <a:t>OVERALL CHURN RATE</a:t>
            </a:r>
            <a:endParaRPr sz="1100"/>
          </a:p>
        </p:txBody>
      </p:sp>
      <p:sp>
        <p:nvSpPr>
          <p:cNvPr id="397" name="Google Shape;397;p32"/>
          <p:cNvSpPr/>
          <p:nvPr/>
        </p:nvSpPr>
        <p:spPr>
          <a:xfrm>
            <a:off x="771525" y="2235994"/>
            <a:ext cx="26433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FFFFF"/>
                </a:solidFill>
              </a:rPr>
              <a:t>50.4%</a:t>
            </a:r>
            <a:endParaRPr sz="1100"/>
          </a:p>
        </p:txBody>
      </p:sp>
      <p:sp>
        <p:nvSpPr>
          <p:cNvPr id="398" name="Google Shape;398;p32"/>
          <p:cNvSpPr/>
          <p:nvPr/>
        </p:nvSpPr>
        <p:spPr>
          <a:xfrm>
            <a:off x="785813" y="2836069"/>
            <a:ext cx="26433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AF0F6"/>
                </a:solidFill>
              </a:rPr>
              <a:t>2,515 of 4,990 subscribers churned</a:t>
            </a:r>
            <a:endParaRPr sz="1100"/>
          </a:p>
        </p:txBody>
      </p:sp>
      <p:cxnSp>
        <p:nvCxnSpPr>
          <p:cNvPr id="399" name="Google Shape;399;p32"/>
          <p:cNvCxnSpPr/>
          <p:nvPr/>
        </p:nvCxnSpPr>
        <p:spPr>
          <a:xfrm>
            <a:off x="785813" y="3214688"/>
            <a:ext cx="2714700" cy="0"/>
          </a:xfrm>
          <a:prstGeom prst="straightConnector1">
            <a:avLst/>
          </a:prstGeom>
          <a:noFill/>
          <a:ln cap="flat" cmpd="sng" w="7150">
            <a:solidFill>
              <a:srgbClr val="7188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32"/>
          <p:cNvSpPr/>
          <p:nvPr/>
        </p:nvSpPr>
        <p:spPr>
          <a:xfrm>
            <a:off x="785827" y="3329000"/>
            <a:ext cx="28230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AF0F6"/>
                </a:solidFill>
              </a:rPr>
              <a:t>The baseline churn rate used for the rest of the analysis.</a:t>
            </a:r>
            <a:endParaRPr sz="1100"/>
          </a:p>
        </p:txBody>
      </p:sp>
      <p:sp>
        <p:nvSpPr>
          <p:cNvPr id="401" name="Google Shape;401;p32"/>
          <p:cNvSpPr/>
          <p:nvPr/>
        </p:nvSpPr>
        <p:spPr>
          <a:xfrm>
            <a:off x="4679156" y="1750219"/>
            <a:ext cx="25719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CUSTOMER OUTCOME SPLIT</a:t>
            </a:r>
            <a:endParaRPr sz="1100"/>
          </a:p>
        </p:txBody>
      </p:sp>
      <p:sp>
        <p:nvSpPr>
          <p:cNvPr id="402" name="Google Shape;402;p32"/>
          <p:cNvSpPr/>
          <p:nvPr/>
        </p:nvSpPr>
        <p:spPr>
          <a:xfrm>
            <a:off x="4679156" y="2150269"/>
            <a:ext cx="1285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2033"/>
                </a:solidFill>
              </a:rPr>
              <a:t>Churned</a:t>
            </a:r>
            <a:endParaRPr sz="1100"/>
          </a:p>
        </p:txBody>
      </p:sp>
      <p:sp>
        <p:nvSpPr>
          <p:cNvPr id="403" name="Google Shape;403;p32"/>
          <p:cNvSpPr/>
          <p:nvPr/>
        </p:nvSpPr>
        <p:spPr>
          <a:xfrm>
            <a:off x="6822281" y="2150269"/>
            <a:ext cx="15000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E50914"/>
                </a:solidFill>
              </a:rPr>
              <a:t>2,515  •  50.4%</a:t>
            </a:r>
            <a:endParaRPr sz="1100"/>
          </a:p>
        </p:txBody>
      </p:sp>
      <p:sp>
        <p:nvSpPr>
          <p:cNvPr id="404" name="Google Shape;404;p32"/>
          <p:cNvSpPr/>
          <p:nvPr/>
        </p:nvSpPr>
        <p:spPr>
          <a:xfrm>
            <a:off x="4679156" y="2450306"/>
            <a:ext cx="3678900" cy="300300"/>
          </a:xfrm>
          <a:prstGeom prst="roundRect">
            <a:avLst>
              <a:gd fmla="val 28571" name="adj"/>
            </a:avLst>
          </a:prstGeom>
          <a:solidFill>
            <a:srgbClr val="F3D0D3"/>
          </a:solidFill>
          <a:ln cap="flat" cmpd="sng" w="7150">
            <a:solidFill>
              <a:srgbClr val="F3D0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2"/>
          <p:cNvSpPr/>
          <p:nvPr/>
        </p:nvSpPr>
        <p:spPr>
          <a:xfrm>
            <a:off x="4679156" y="2450306"/>
            <a:ext cx="1857300" cy="300300"/>
          </a:xfrm>
          <a:prstGeom prst="roundRect">
            <a:avLst>
              <a:gd fmla="val 28571" name="adj"/>
            </a:avLst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2"/>
          <p:cNvSpPr/>
          <p:nvPr/>
        </p:nvSpPr>
        <p:spPr>
          <a:xfrm>
            <a:off x="4679156" y="3007519"/>
            <a:ext cx="12858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2033"/>
                </a:solidFill>
              </a:rPr>
              <a:t>Retained</a:t>
            </a:r>
            <a:endParaRPr sz="1100"/>
          </a:p>
        </p:txBody>
      </p:sp>
      <p:sp>
        <p:nvSpPr>
          <p:cNvPr id="407" name="Google Shape;407;p32"/>
          <p:cNvSpPr/>
          <p:nvPr/>
        </p:nvSpPr>
        <p:spPr>
          <a:xfrm>
            <a:off x="6822281" y="3007519"/>
            <a:ext cx="15000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466E99"/>
                </a:solidFill>
              </a:rPr>
              <a:t>2,475  •  49.6%</a:t>
            </a:r>
            <a:endParaRPr sz="1100"/>
          </a:p>
        </p:txBody>
      </p:sp>
      <p:sp>
        <p:nvSpPr>
          <p:cNvPr id="408" name="Google Shape;408;p32"/>
          <p:cNvSpPr/>
          <p:nvPr/>
        </p:nvSpPr>
        <p:spPr>
          <a:xfrm>
            <a:off x="4679156" y="3307556"/>
            <a:ext cx="3678900" cy="300300"/>
          </a:xfrm>
          <a:prstGeom prst="roundRect">
            <a:avLst>
              <a:gd fmla="val 28571" name="adj"/>
            </a:avLst>
          </a:prstGeom>
          <a:solidFill>
            <a:srgbClr val="D8E5F0"/>
          </a:solidFill>
          <a:ln cap="flat" cmpd="sng" w="7150">
            <a:solidFill>
              <a:srgbClr val="D8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2"/>
          <p:cNvSpPr/>
          <p:nvPr/>
        </p:nvSpPr>
        <p:spPr>
          <a:xfrm>
            <a:off x="4679156" y="3307556"/>
            <a:ext cx="1821600" cy="300300"/>
          </a:xfrm>
          <a:prstGeom prst="roundRect">
            <a:avLst>
              <a:gd fmla="val 28571" name="adj"/>
            </a:avLst>
          </a:prstGeom>
          <a:solidFill>
            <a:srgbClr val="466E99"/>
          </a:solidFill>
          <a:ln cap="flat" cmpd="sng" w="7150">
            <a:solidFill>
              <a:srgbClr val="466E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2"/>
          <p:cNvSpPr/>
          <p:nvPr/>
        </p:nvSpPr>
        <p:spPr>
          <a:xfrm>
            <a:off x="4679156" y="3871913"/>
            <a:ext cx="3571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26174"/>
                </a:solidFill>
              </a:rPr>
              <a:t>The customer base is nearly evenly split between churned and retained subscribers.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3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3"/>
          <p:cNvSpPr/>
          <p:nvPr/>
        </p:nvSpPr>
        <p:spPr>
          <a:xfrm>
            <a:off x="514350" y="357188"/>
            <a:ext cx="40005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DESCRIPTIVE ANALYTICS • SUBSCRIPTION PLANS</a:t>
            </a:r>
            <a:endParaRPr sz="1100"/>
          </a:p>
        </p:txBody>
      </p:sp>
      <p:sp>
        <p:nvSpPr>
          <p:cNvPr id="418" name="Google Shape;418;p33"/>
          <p:cNvSpPr/>
          <p:nvPr/>
        </p:nvSpPr>
        <p:spPr>
          <a:xfrm>
            <a:off x="514350" y="4857750"/>
            <a:ext cx="3571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A8798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419" name="Google Shape;419;p33"/>
          <p:cNvSpPr/>
          <p:nvPr/>
        </p:nvSpPr>
        <p:spPr>
          <a:xfrm>
            <a:off x="8343900" y="4829175"/>
            <a:ext cx="285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A8798"/>
                </a:solidFill>
              </a:rPr>
              <a:t>12</a:t>
            </a:r>
            <a:endParaRPr sz="1100"/>
          </a:p>
        </p:txBody>
      </p:sp>
      <p:sp>
        <p:nvSpPr>
          <p:cNvPr id="420" name="Google Shape;420;p33"/>
          <p:cNvSpPr/>
          <p:nvPr/>
        </p:nvSpPr>
        <p:spPr>
          <a:xfrm>
            <a:off x="514350" y="642938"/>
            <a:ext cx="8115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172033"/>
                </a:solidFill>
              </a:rPr>
              <a:t>Basic plan has the highest churn rate</a:t>
            </a:r>
            <a:endParaRPr sz="1100"/>
          </a:p>
        </p:txBody>
      </p:sp>
      <p:sp>
        <p:nvSpPr>
          <p:cNvPr id="421" name="Google Shape;421;p33"/>
          <p:cNvSpPr/>
          <p:nvPr/>
        </p:nvSpPr>
        <p:spPr>
          <a:xfrm>
            <a:off x="514350" y="1042988"/>
            <a:ext cx="7786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174"/>
                </a:solidFill>
              </a:rPr>
              <a:t>Plan-level summaries show how customer outcomes, price, and engagement differ across the current subscription base.</a:t>
            </a:r>
            <a:endParaRPr sz="1100"/>
          </a:p>
        </p:txBody>
      </p:sp>
      <p:sp>
        <p:nvSpPr>
          <p:cNvPr id="422" name="Google Shape;422;p33"/>
          <p:cNvSpPr/>
          <p:nvPr/>
        </p:nvSpPr>
        <p:spPr>
          <a:xfrm>
            <a:off x="514350" y="1571625"/>
            <a:ext cx="20001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CHURN RATE BY PLAN</a:t>
            </a:r>
            <a:endParaRPr sz="1100"/>
          </a:p>
        </p:txBody>
      </p:sp>
      <p:sp>
        <p:nvSpPr>
          <p:cNvPr id="423" name="Google Shape;423;p33"/>
          <p:cNvSpPr/>
          <p:nvPr/>
        </p:nvSpPr>
        <p:spPr>
          <a:xfrm>
            <a:off x="514350" y="1900238"/>
            <a:ext cx="10716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72033"/>
                </a:solidFill>
              </a:rPr>
              <a:t>Basic</a:t>
            </a:r>
            <a:endParaRPr sz="1100"/>
          </a:p>
        </p:txBody>
      </p:sp>
      <p:sp>
        <p:nvSpPr>
          <p:cNvPr id="424" name="Google Shape;424;p33"/>
          <p:cNvSpPr/>
          <p:nvPr/>
        </p:nvSpPr>
        <p:spPr>
          <a:xfrm>
            <a:off x="514350" y="2150269"/>
            <a:ext cx="857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50914"/>
                </a:solidFill>
              </a:rPr>
              <a:t>62.0%</a:t>
            </a:r>
            <a:endParaRPr sz="1100"/>
          </a:p>
        </p:txBody>
      </p:sp>
      <p:sp>
        <p:nvSpPr>
          <p:cNvPr id="425" name="Google Shape;425;p33"/>
          <p:cNvSpPr/>
          <p:nvPr/>
        </p:nvSpPr>
        <p:spPr>
          <a:xfrm>
            <a:off x="1457325" y="2150269"/>
            <a:ext cx="2821800" cy="200100"/>
          </a:xfrm>
          <a:prstGeom prst="roundRect">
            <a:avLst>
              <a:gd fmla="val 42857" name="adj"/>
            </a:avLst>
          </a:prstGeom>
          <a:solidFill>
            <a:srgbClr val="E3E8EF"/>
          </a:solidFill>
          <a:ln cap="flat" cmpd="sng" w="7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3"/>
          <p:cNvSpPr/>
          <p:nvPr/>
        </p:nvSpPr>
        <p:spPr>
          <a:xfrm>
            <a:off x="1457325" y="2150269"/>
            <a:ext cx="2768100" cy="200100"/>
          </a:xfrm>
          <a:prstGeom prst="roundRect">
            <a:avLst>
              <a:gd fmla="val 42857" name="adj"/>
            </a:avLst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27" name="Google Shape;427;p33"/>
          <p:cNvCxnSpPr/>
          <p:nvPr/>
        </p:nvCxnSpPr>
        <p:spPr>
          <a:xfrm>
            <a:off x="514350" y="2557463"/>
            <a:ext cx="3786300" cy="0"/>
          </a:xfrm>
          <a:prstGeom prst="straightConnector1">
            <a:avLst/>
          </a:prstGeom>
          <a:noFill/>
          <a:ln cap="flat" cmpd="sng" w="715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33"/>
          <p:cNvSpPr/>
          <p:nvPr/>
        </p:nvSpPr>
        <p:spPr>
          <a:xfrm>
            <a:off x="514350" y="2671763"/>
            <a:ext cx="10716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72033"/>
                </a:solidFill>
              </a:rPr>
              <a:t>Standard</a:t>
            </a:r>
            <a:endParaRPr sz="1100"/>
          </a:p>
        </p:txBody>
      </p:sp>
      <p:sp>
        <p:nvSpPr>
          <p:cNvPr id="429" name="Google Shape;429;p33"/>
          <p:cNvSpPr/>
          <p:nvPr/>
        </p:nvSpPr>
        <p:spPr>
          <a:xfrm>
            <a:off x="514350" y="2921794"/>
            <a:ext cx="857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243A5C"/>
                </a:solidFill>
              </a:rPr>
              <a:t>45.5%</a:t>
            </a:r>
            <a:endParaRPr sz="1100"/>
          </a:p>
        </p:txBody>
      </p:sp>
      <p:sp>
        <p:nvSpPr>
          <p:cNvPr id="430" name="Google Shape;430;p33"/>
          <p:cNvSpPr/>
          <p:nvPr/>
        </p:nvSpPr>
        <p:spPr>
          <a:xfrm>
            <a:off x="1457325" y="2921794"/>
            <a:ext cx="2821800" cy="200100"/>
          </a:xfrm>
          <a:prstGeom prst="roundRect">
            <a:avLst>
              <a:gd fmla="val 42857" name="adj"/>
            </a:avLst>
          </a:prstGeom>
          <a:solidFill>
            <a:srgbClr val="E3E8EF"/>
          </a:solidFill>
          <a:ln cap="flat" cmpd="sng" w="7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33"/>
          <p:cNvSpPr/>
          <p:nvPr/>
        </p:nvSpPr>
        <p:spPr>
          <a:xfrm>
            <a:off x="1457325" y="2921794"/>
            <a:ext cx="2031600" cy="200100"/>
          </a:xfrm>
          <a:prstGeom prst="roundRect">
            <a:avLst>
              <a:gd fmla="val 42857" name="adj"/>
            </a:avLst>
          </a:prstGeom>
          <a:solidFill>
            <a:srgbClr val="243A5C"/>
          </a:solidFill>
          <a:ln cap="flat" cmpd="sng" w="7150">
            <a:solidFill>
              <a:srgbClr val="24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2" name="Google Shape;432;p33"/>
          <p:cNvCxnSpPr/>
          <p:nvPr/>
        </p:nvCxnSpPr>
        <p:spPr>
          <a:xfrm>
            <a:off x="514350" y="3328988"/>
            <a:ext cx="3786300" cy="0"/>
          </a:xfrm>
          <a:prstGeom prst="straightConnector1">
            <a:avLst/>
          </a:prstGeom>
          <a:noFill/>
          <a:ln cap="flat" cmpd="sng" w="715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p33"/>
          <p:cNvSpPr/>
          <p:nvPr/>
        </p:nvSpPr>
        <p:spPr>
          <a:xfrm>
            <a:off x="514350" y="3443288"/>
            <a:ext cx="10716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72033"/>
                </a:solidFill>
              </a:rPr>
              <a:t>Premium</a:t>
            </a:r>
            <a:endParaRPr sz="1100"/>
          </a:p>
        </p:txBody>
      </p:sp>
      <p:sp>
        <p:nvSpPr>
          <p:cNvPr id="434" name="Google Shape;434;p33"/>
          <p:cNvSpPr/>
          <p:nvPr/>
        </p:nvSpPr>
        <p:spPr>
          <a:xfrm>
            <a:off x="514350" y="3693319"/>
            <a:ext cx="857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466E99"/>
                </a:solidFill>
              </a:rPr>
              <a:t>43.8%</a:t>
            </a:r>
            <a:endParaRPr sz="1100"/>
          </a:p>
        </p:txBody>
      </p:sp>
      <p:sp>
        <p:nvSpPr>
          <p:cNvPr id="435" name="Google Shape;435;p33"/>
          <p:cNvSpPr/>
          <p:nvPr/>
        </p:nvSpPr>
        <p:spPr>
          <a:xfrm>
            <a:off x="1457325" y="3693319"/>
            <a:ext cx="2821800" cy="200100"/>
          </a:xfrm>
          <a:prstGeom prst="roundRect">
            <a:avLst>
              <a:gd fmla="val 42857" name="adj"/>
            </a:avLst>
          </a:prstGeom>
          <a:solidFill>
            <a:srgbClr val="E3E8EF"/>
          </a:solidFill>
          <a:ln cap="flat" cmpd="sng" w="7150">
            <a:solidFill>
              <a:srgbClr val="E3E8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3"/>
          <p:cNvSpPr/>
          <p:nvPr/>
        </p:nvSpPr>
        <p:spPr>
          <a:xfrm>
            <a:off x="1457325" y="3693319"/>
            <a:ext cx="1955700" cy="200100"/>
          </a:xfrm>
          <a:prstGeom prst="roundRect">
            <a:avLst>
              <a:gd fmla="val 42857" name="adj"/>
            </a:avLst>
          </a:prstGeom>
          <a:solidFill>
            <a:srgbClr val="466E99"/>
          </a:solidFill>
          <a:ln cap="flat" cmpd="sng" w="7150">
            <a:solidFill>
              <a:srgbClr val="466E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7" name="Google Shape;437;p33"/>
          <p:cNvCxnSpPr/>
          <p:nvPr/>
        </p:nvCxnSpPr>
        <p:spPr>
          <a:xfrm>
            <a:off x="514350" y="4100513"/>
            <a:ext cx="3786300" cy="0"/>
          </a:xfrm>
          <a:prstGeom prst="straightConnector1">
            <a:avLst/>
          </a:prstGeom>
          <a:noFill/>
          <a:ln cap="flat" cmpd="sng" w="7150">
            <a:solidFill>
              <a:srgbClr val="D9E0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" name="Google Shape;438;p33"/>
          <p:cNvSpPr/>
          <p:nvPr/>
        </p:nvSpPr>
        <p:spPr>
          <a:xfrm>
            <a:off x="4786313" y="1614488"/>
            <a:ext cx="3843600" cy="252900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 cap="flat" cmpd="sng" w="7150">
            <a:solidFill>
              <a:srgbClr val="D4DD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3"/>
          <p:cNvSpPr/>
          <p:nvPr/>
        </p:nvSpPr>
        <p:spPr>
          <a:xfrm>
            <a:off x="5036344" y="1821656"/>
            <a:ext cx="14289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PLAN SUMMARY</a:t>
            </a:r>
            <a:endParaRPr sz="1100"/>
          </a:p>
        </p:txBody>
      </p:sp>
      <p:sp>
        <p:nvSpPr>
          <p:cNvPr id="440" name="Google Shape;440;p33"/>
          <p:cNvSpPr/>
          <p:nvPr/>
        </p:nvSpPr>
        <p:spPr>
          <a:xfrm>
            <a:off x="5036344" y="2178844"/>
            <a:ext cx="786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26174"/>
                </a:solidFill>
              </a:rPr>
              <a:t>Plan</a:t>
            </a:r>
            <a:endParaRPr sz="1100"/>
          </a:p>
        </p:txBody>
      </p:sp>
      <p:sp>
        <p:nvSpPr>
          <p:cNvPr id="441" name="Google Shape;441;p33"/>
          <p:cNvSpPr/>
          <p:nvPr/>
        </p:nvSpPr>
        <p:spPr>
          <a:xfrm>
            <a:off x="5957888" y="2178844"/>
            <a:ext cx="7143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26174"/>
                </a:solidFill>
              </a:rPr>
              <a:t>Customers</a:t>
            </a:r>
            <a:endParaRPr sz="1100"/>
          </a:p>
        </p:txBody>
      </p:sp>
      <p:sp>
        <p:nvSpPr>
          <p:cNvPr id="442" name="Google Shape;442;p33"/>
          <p:cNvSpPr/>
          <p:nvPr/>
        </p:nvSpPr>
        <p:spPr>
          <a:xfrm>
            <a:off x="6915150" y="2178844"/>
            <a:ext cx="7503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26174"/>
                </a:solidFill>
              </a:rPr>
              <a:t>Monthly fee</a:t>
            </a:r>
            <a:endParaRPr sz="1100"/>
          </a:p>
        </p:txBody>
      </p:sp>
      <p:sp>
        <p:nvSpPr>
          <p:cNvPr id="443" name="Google Shape;443;p33"/>
          <p:cNvSpPr/>
          <p:nvPr/>
        </p:nvSpPr>
        <p:spPr>
          <a:xfrm>
            <a:off x="7800975" y="2178844"/>
            <a:ext cx="7002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26174"/>
                </a:solidFill>
              </a:rPr>
              <a:t>Avg. watch hours</a:t>
            </a:r>
            <a:endParaRPr sz="1100"/>
          </a:p>
        </p:txBody>
      </p:sp>
      <p:sp>
        <p:nvSpPr>
          <p:cNvPr id="444" name="Google Shape;444;p33"/>
          <p:cNvSpPr/>
          <p:nvPr/>
        </p:nvSpPr>
        <p:spPr>
          <a:xfrm>
            <a:off x="4957763" y="2450306"/>
            <a:ext cx="3514800" cy="357300"/>
          </a:xfrm>
          <a:prstGeom prst="rect">
            <a:avLst/>
          </a:prstGeom>
          <a:solidFill>
            <a:srgbClr val="F3F5F7"/>
          </a:solidFill>
          <a:ln cap="flat" cmpd="sng" w="7150">
            <a:solidFill>
              <a:srgbClr val="F3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3"/>
          <p:cNvSpPr/>
          <p:nvPr/>
        </p:nvSpPr>
        <p:spPr>
          <a:xfrm>
            <a:off x="5036344" y="2507456"/>
            <a:ext cx="771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Basic</a:t>
            </a:r>
            <a:endParaRPr sz="1100"/>
          </a:p>
        </p:txBody>
      </p:sp>
      <p:sp>
        <p:nvSpPr>
          <p:cNvPr id="446" name="Google Shape;446;p33"/>
          <p:cNvSpPr/>
          <p:nvPr/>
        </p:nvSpPr>
        <p:spPr>
          <a:xfrm>
            <a:off x="6000750" y="2507456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</a:rPr>
              <a:t>1657</a:t>
            </a:r>
            <a:endParaRPr sz="1100"/>
          </a:p>
        </p:txBody>
      </p:sp>
      <p:sp>
        <p:nvSpPr>
          <p:cNvPr id="447" name="Google Shape;447;p33"/>
          <p:cNvSpPr/>
          <p:nvPr/>
        </p:nvSpPr>
        <p:spPr>
          <a:xfrm>
            <a:off x="7000875" y="2507456"/>
            <a:ext cx="5574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</a:rPr>
              <a:t>$8.99</a:t>
            </a:r>
            <a:endParaRPr sz="1100"/>
          </a:p>
        </p:txBody>
      </p:sp>
      <p:sp>
        <p:nvSpPr>
          <p:cNvPr id="448" name="Google Shape;448;p33"/>
          <p:cNvSpPr/>
          <p:nvPr/>
        </p:nvSpPr>
        <p:spPr>
          <a:xfrm>
            <a:off x="7743825" y="2507456"/>
            <a:ext cx="72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</a:rPr>
              <a:t>11.46 hrs</a:t>
            </a:r>
            <a:endParaRPr sz="1100"/>
          </a:p>
        </p:txBody>
      </p:sp>
      <p:sp>
        <p:nvSpPr>
          <p:cNvPr id="449" name="Google Shape;449;p33"/>
          <p:cNvSpPr/>
          <p:nvPr/>
        </p:nvSpPr>
        <p:spPr>
          <a:xfrm>
            <a:off x="5036344" y="2950369"/>
            <a:ext cx="771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Standard</a:t>
            </a:r>
            <a:endParaRPr sz="1100"/>
          </a:p>
        </p:txBody>
      </p:sp>
      <p:sp>
        <p:nvSpPr>
          <p:cNvPr id="450" name="Google Shape;450;p33"/>
          <p:cNvSpPr/>
          <p:nvPr/>
        </p:nvSpPr>
        <p:spPr>
          <a:xfrm>
            <a:off x="6000750" y="2950369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</a:rPr>
              <a:t>1643</a:t>
            </a:r>
            <a:endParaRPr sz="1100"/>
          </a:p>
        </p:txBody>
      </p:sp>
      <p:sp>
        <p:nvSpPr>
          <p:cNvPr id="451" name="Google Shape;451;p33"/>
          <p:cNvSpPr/>
          <p:nvPr/>
        </p:nvSpPr>
        <p:spPr>
          <a:xfrm>
            <a:off x="7000875" y="2950369"/>
            <a:ext cx="5574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</a:rPr>
              <a:t>$13.99</a:t>
            </a:r>
            <a:endParaRPr sz="1100"/>
          </a:p>
        </p:txBody>
      </p:sp>
      <p:sp>
        <p:nvSpPr>
          <p:cNvPr id="452" name="Google Shape;452;p33"/>
          <p:cNvSpPr/>
          <p:nvPr/>
        </p:nvSpPr>
        <p:spPr>
          <a:xfrm>
            <a:off x="7743825" y="2950369"/>
            <a:ext cx="72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</a:rPr>
              <a:t>11.63 hrs</a:t>
            </a:r>
            <a:endParaRPr sz="1100"/>
          </a:p>
        </p:txBody>
      </p:sp>
      <p:sp>
        <p:nvSpPr>
          <p:cNvPr id="453" name="Google Shape;453;p33"/>
          <p:cNvSpPr/>
          <p:nvPr/>
        </p:nvSpPr>
        <p:spPr>
          <a:xfrm>
            <a:off x="4957763" y="3336131"/>
            <a:ext cx="3514800" cy="357300"/>
          </a:xfrm>
          <a:prstGeom prst="rect">
            <a:avLst/>
          </a:prstGeom>
          <a:solidFill>
            <a:srgbClr val="F3F5F7"/>
          </a:solidFill>
          <a:ln cap="flat" cmpd="sng" w="7150">
            <a:solidFill>
              <a:srgbClr val="F3F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3"/>
          <p:cNvSpPr/>
          <p:nvPr/>
        </p:nvSpPr>
        <p:spPr>
          <a:xfrm>
            <a:off x="5036344" y="3393281"/>
            <a:ext cx="771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Premium</a:t>
            </a:r>
            <a:endParaRPr sz="1100"/>
          </a:p>
        </p:txBody>
      </p:sp>
      <p:sp>
        <p:nvSpPr>
          <p:cNvPr id="455" name="Google Shape;455;p33"/>
          <p:cNvSpPr/>
          <p:nvPr/>
        </p:nvSpPr>
        <p:spPr>
          <a:xfrm>
            <a:off x="6000750" y="3393281"/>
            <a:ext cx="57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</a:rPr>
              <a:t>1690</a:t>
            </a:r>
            <a:endParaRPr sz="1100"/>
          </a:p>
        </p:txBody>
      </p:sp>
      <p:sp>
        <p:nvSpPr>
          <p:cNvPr id="456" name="Google Shape;456;p33"/>
          <p:cNvSpPr/>
          <p:nvPr/>
        </p:nvSpPr>
        <p:spPr>
          <a:xfrm>
            <a:off x="7000875" y="3393281"/>
            <a:ext cx="5574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</a:rPr>
              <a:t>$17.99</a:t>
            </a:r>
            <a:endParaRPr sz="1100"/>
          </a:p>
        </p:txBody>
      </p:sp>
      <p:sp>
        <p:nvSpPr>
          <p:cNvPr id="457" name="Google Shape;457;p33"/>
          <p:cNvSpPr/>
          <p:nvPr/>
        </p:nvSpPr>
        <p:spPr>
          <a:xfrm>
            <a:off x="7743825" y="3393281"/>
            <a:ext cx="7215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72033"/>
                </a:solidFill>
              </a:rPr>
              <a:t>11.67 hrs</a:t>
            </a:r>
            <a:endParaRPr sz="1100"/>
          </a:p>
        </p:txBody>
      </p:sp>
      <p:sp>
        <p:nvSpPr>
          <p:cNvPr id="458" name="Google Shape;458;p33"/>
          <p:cNvSpPr/>
          <p:nvPr/>
        </p:nvSpPr>
        <p:spPr>
          <a:xfrm>
            <a:off x="4786313" y="4357688"/>
            <a:ext cx="3786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43A5C"/>
                </a:solidFill>
              </a:rPr>
              <a:t>Basic is the largest churn concern despite similar average watch hours across plans.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4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4"/>
          <p:cNvSpPr/>
          <p:nvPr/>
        </p:nvSpPr>
        <p:spPr>
          <a:xfrm>
            <a:off x="514350" y="357188"/>
            <a:ext cx="40005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DESCRIPTIVE ANALYTICS • HIGH-VALUE CUSTOMERS</a:t>
            </a:r>
            <a:endParaRPr sz="1100"/>
          </a:p>
        </p:txBody>
      </p:sp>
      <p:sp>
        <p:nvSpPr>
          <p:cNvPr id="466" name="Google Shape;466;p34"/>
          <p:cNvSpPr/>
          <p:nvPr/>
        </p:nvSpPr>
        <p:spPr>
          <a:xfrm>
            <a:off x="514350" y="4857750"/>
            <a:ext cx="3571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A8798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467" name="Google Shape;467;p34"/>
          <p:cNvSpPr/>
          <p:nvPr/>
        </p:nvSpPr>
        <p:spPr>
          <a:xfrm>
            <a:off x="8343900" y="4829175"/>
            <a:ext cx="285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A8798"/>
                </a:solidFill>
              </a:rPr>
              <a:t>13</a:t>
            </a:r>
            <a:endParaRPr sz="1100"/>
          </a:p>
        </p:txBody>
      </p:sp>
      <p:sp>
        <p:nvSpPr>
          <p:cNvPr id="468" name="Google Shape;468;p34"/>
          <p:cNvSpPr/>
          <p:nvPr/>
        </p:nvSpPr>
        <p:spPr>
          <a:xfrm>
            <a:off x="514350" y="614363"/>
            <a:ext cx="73581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A snapshot of the high-value customer segment</a:t>
            </a:r>
            <a:endParaRPr sz="1100"/>
          </a:p>
        </p:txBody>
      </p:sp>
      <p:sp>
        <p:nvSpPr>
          <p:cNvPr id="469" name="Google Shape;469;p34"/>
          <p:cNvSpPr/>
          <p:nvPr/>
        </p:nvSpPr>
        <p:spPr>
          <a:xfrm>
            <a:off x="514350" y="1043000"/>
            <a:ext cx="8297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174"/>
                </a:solidFill>
              </a:rPr>
              <a:t>The most common attributes within retained, high-value subscribers provide a descriptive starting point for acquisition targeting.</a:t>
            </a:r>
            <a:endParaRPr sz="1100"/>
          </a:p>
        </p:txBody>
      </p:sp>
      <p:sp>
        <p:nvSpPr>
          <p:cNvPr id="470" name="Google Shape;470;p34"/>
          <p:cNvSpPr/>
          <p:nvPr/>
        </p:nvSpPr>
        <p:spPr>
          <a:xfrm>
            <a:off x="514350" y="1671638"/>
            <a:ext cx="2057400" cy="2328900"/>
          </a:xfrm>
          <a:prstGeom prst="roundRect">
            <a:avLst>
              <a:gd fmla="val 4167" name="adj"/>
            </a:avLst>
          </a:prstGeom>
          <a:solidFill>
            <a:srgbClr val="243A5C"/>
          </a:solidFill>
          <a:ln cap="flat" cmpd="sng" w="7150">
            <a:solidFill>
              <a:srgbClr val="24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4"/>
          <p:cNvSpPr/>
          <p:nvPr/>
        </p:nvSpPr>
        <p:spPr>
          <a:xfrm>
            <a:off x="742950" y="1921669"/>
            <a:ext cx="16431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D7D9"/>
                </a:solidFill>
              </a:rPr>
              <a:t>HIGH-VALUE CUSTOMER</a:t>
            </a:r>
            <a:endParaRPr sz="1100"/>
          </a:p>
        </p:txBody>
      </p:sp>
      <p:sp>
        <p:nvSpPr>
          <p:cNvPr id="472" name="Google Shape;472;p34"/>
          <p:cNvSpPr/>
          <p:nvPr/>
        </p:nvSpPr>
        <p:spPr>
          <a:xfrm>
            <a:off x="742950" y="2393156"/>
            <a:ext cx="13572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FF"/>
                </a:solidFill>
              </a:rPr>
              <a:t>Profile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FF"/>
                </a:solidFill>
              </a:rPr>
              <a:t>snapshot</a:t>
            </a:r>
            <a:endParaRPr sz="1100"/>
          </a:p>
        </p:txBody>
      </p:sp>
      <p:sp>
        <p:nvSpPr>
          <p:cNvPr id="473" name="Google Shape;473;p34"/>
          <p:cNvSpPr/>
          <p:nvPr/>
        </p:nvSpPr>
        <p:spPr>
          <a:xfrm>
            <a:off x="742950" y="3257550"/>
            <a:ext cx="14433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EAF0F6"/>
                </a:solidFill>
              </a:rPr>
              <a:t>Most common observed characteristics—not a prediction of future sign-ups.</a:t>
            </a:r>
            <a:endParaRPr sz="1100"/>
          </a:p>
        </p:txBody>
      </p:sp>
      <p:sp>
        <p:nvSpPr>
          <p:cNvPr id="474" name="Google Shape;474;p34"/>
          <p:cNvSpPr/>
          <p:nvPr/>
        </p:nvSpPr>
        <p:spPr>
          <a:xfrm>
            <a:off x="3000375" y="1678781"/>
            <a:ext cx="2414700" cy="100020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7150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4"/>
          <p:cNvSpPr/>
          <p:nvPr/>
        </p:nvSpPr>
        <p:spPr>
          <a:xfrm>
            <a:off x="3000375" y="1678781"/>
            <a:ext cx="2414700" cy="570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4"/>
          <p:cNvSpPr/>
          <p:nvPr/>
        </p:nvSpPr>
        <p:spPr>
          <a:xfrm>
            <a:off x="3200400" y="1900238"/>
            <a:ext cx="1285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26174"/>
                </a:solidFill>
              </a:rPr>
              <a:t>AGE GROUP</a:t>
            </a:r>
            <a:endParaRPr sz="1100"/>
          </a:p>
        </p:txBody>
      </p:sp>
      <p:sp>
        <p:nvSpPr>
          <p:cNvPr id="477" name="Google Shape;477;p34"/>
          <p:cNvSpPr/>
          <p:nvPr/>
        </p:nvSpPr>
        <p:spPr>
          <a:xfrm>
            <a:off x="3200400" y="2114550"/>
            <a:ext cx="13572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72033"/>
                </a:solidFill>
              </a:rPr>
              <a:t>18–29</a:t>
            </a:r>
            <a:endParaRPr sz="1100"/>
          </a:p>
        </p:txBody>
      </p:sp>
      <p:sp>
        <p:nvSpPr>
          <p:cNvPr id="478" name="Google Shape;478;p34"/>
          <p:cNvSpPr/>
          <p:nvPr/>
        </p:nvSpPr>
        <p:spPr>
          <a:xfrm>
            <a:off x="4629150" y="2178844"/>
            <a:ext cx="5715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E50914"/>
                </a:solidFill>
              </a:rPr>
              <a:t>28.2%</a:t>
            </a:r>
            <a:endParaRPr sz="1100"/>
          </a:p>
        </p:txBody>
      </p:sp>
      <p:sp>
        <p:nvSpPr>
          <p:cNvPr id="479" name="Google Shape;479;p34"/>
          <p:cNvSpPr/>
          <p:nvPr/>
        </p:nvSpPr>
        <p:spPr>
          <a:xfrm>
            <a:off x="3200400" y="2436019"/>
            <a:ext cx="17502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share of high-value customers</a:t>
            </a:r>
            <a:endParaRPr sz="1100"/>
          </a:p>
        </p:txBody>
      </p:sp>
      <p:sp>
        <p:nvSpPr>
          <p:cNvPr id="480" name="Google Shape;480;p34"/>
          <p:cNvSpPr/>
          <p:nvPr/>
        </p:nvSpPr>
        <p:spPr>
          <a:xfrm>
            <a:off x="5786438" y="1678781"/>
            <a:ext cx="2414700" cy="100020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7150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4"/>
          <p:cNvSpPr/>
          <p:nvPr/>
        </p:nvSpPr>
        <p:spPr>
          <a:xfrm>
            <a:off x="5786438" y="1678781"/>
            <a:ext cx="2414700" cy="57000"/>
          </a:xfrm>
          <a:prstGeom prst="rect">
            <a:avLst/>
          </a:prstGeom>
          <a:solidFill>
            <a:srgbClr val="243A5C"/>
          </a:solidFill>
          <a:ln cap="flat" cmpd="sng" w="7150">
            <a:solidFill>
              <a:srgbClr val="24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4"/>
          <p:cNvSpPr/>
          <p:nvPr/>
        </p:nvSpPr>
        <p:spPr>
          <a:xfrm>
            <a:off x="5986463" y="1900238"/>
            <a:ext cx="1285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26174"/>
                </a:solidFill>
              </a:rPr>
              <a:t>REGION</a:t>
            </a:r>
            <a:endParaRPr sz="1100"/>
          </a:p>
        </p:txBody>
      </p:sp>
      <p:sp>
        <p:nvSpPr>
          <p:cNvPr id="483" name="Google Shape;483;p34"/>
          <p:cNvSpPr/>
          <p:nvPr/>
        </p:nvSpPr>
        <p:spPr>
          <a:xfrm>
            <a:off x="5986463" y="2114550"/>
            <a:ext cx="13572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72033"/>
                </a:solidFill>
              </a:rPr>
              <a:t>Africa</a:t>
            </a:r>
            <a:endParaRPr sz="1100"/>
          </a:p>
        </p:txBody>
      </p:sp>
      <p:sp>
        <p:nvSpPr>
          <p:cNvPr id="484" name="Google Shape;484;p34"/>
          <p:cNvSpPr/>
          <p:nvPr/>
        </p:nvSpPr>
        <p:spPr>
          <a:xfrm>
            <a:off x="7415213" y="2178844"/>
            <a:ext cx="5715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43A5C"/>
                </a:solidFill>
              </a:rPr>
              <a:t>20.3%</a:t>
            </a:r>
            <a:endParaRPr sz="1100"/>
          </a:p>
        </p:txBody>
      </p:sp>
      <p:sp>
        <p:nvSpPr>
          <p:cNvPr id="485" name="Google Shape;485;p34"/>
          <p:cNvSpPr/>
          <p:nvPr/>
        </p:nvSpPr>
        <p:spPr>
          <a:xfrm>
            <a:off x="5986463" y="2436019"/>
            <a:ext cx="17502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share of high-value customers</a:t>
            </a:r>
            <a:endParaRPr sz="1100"/>
          </a:p>
        </p:txBody>
      </p:sp>
      <p:sp>
        <p:nvSpPr>
          <p:cNvPr id="486" name="Google Shape;486;p34"/>
          <p:cNvSpPr/>
          <p:nvPr/>
        </p:nvSpPr>
        <p:spPr>
          <a:xfrm>
            <a:off x="3000375" y="2964656"/>
            <a:ext cx="2414700" cy="100020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7150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34"/>
          <p:cNvSpPr/>
          <p:nvPr/>
        </p:nvSpPr>
        <p:spPr>
          <a:xfrm>
            <a:off x="3000375" y="2964656"/>
            <a:ext cx="2414700" cy="57000"/>
          </a:xfrm>
          <a:prstGeom prst="rect">
            <a:avLst/>
          </a:prstGeom>
          <a:solidFill>
            <a:srgbClr val="466E99"/>
          </a:solidFill>
          <a:ln cap="flat" cmpd="sng" w="7150">
            <a:solidFill>
              <a:srgbClr val="466E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4"/>
          <p:cNvSpPr/>
          <p:nvPr/>
        </p:nvSpPr>
        <p:spPr>
          <a:xfrm>
            <a:off x="3200400" y="3186113"/>
            <a:ext cx="1285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26174"/>
                </a:solidFill>
              </a:rPr>
              <a:t>DEVICE</a:t>
            </a:r>
            <a:endParaRPr sz="1100"/>
          </a:p>
        </p:txBody>
      </p:sp>
      <p:sp>
        <p:nvSpPr>
          <p:cNvPr id="489" name="Google Shape;489;p34"/>
          <p:cNvSpPr/>
          <p:nvPr/>
        </p:nvSpPr>
        <p:spPr>
          <a:xfrm>
            <a:off x="3200400" y="3400425"/>
            <a:ext cx="13572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72033"/>
                </a:solidFill>
              </a:rPr>
              <a:t>Desktop</a:t>
            </a:r>
            <a:endParaRPr sz="1100"/>
          </a:p>
        </p:txBody>
      </p:sp>
      <p:sp>
        <p:nvSpPr>
          <p:cNvPr id="490" name="Google Shape;490;p34"/>
          <p:cNvSpPr/>
          <p:nvPr/>
        </p:nvSpPr>
        <p:spPr>
          <a:xfrm>
            <a:off x="4629150" y="3464719"/>
            <a:ext cx="5715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66E99"/>
                </a:solidFill>
              </a:rPr>
              <a:t>21.8%</a:t>
            </a:r>
            <a:endParaRPr sz="1100"/>
          </a:p>
        </p:txBody>
      </p:sp>
      <p:sp>
        <p:nvSpPr>
          <p:cNvPr id="491" name="Google Shape;491;p34"/>
          <p:cNvSpPr/>
          <p:nvPr/>
        </p:nvSpPr>
        <p:spPr>
          <a:xfrm>
            <a:off x="3200400" y="3721894"/>
            <a:ext cx="17502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share of high-value customers</a:t>
            </a:r>
            <a:endParaRPr sz="1100"/>
          </a:p>
        </p:txBody>
      </p:sp>
      <p:sp>
        <p:nvSpPr>
          <p:cNvPr id="492" name="Google Shape;492;p34"/>
          <p:cNvSpPr/>
          <p:nvPr/>
        </p:nvSpPr>
        <p:spPr>
          <a:xfrm>
            <a:off x="5786438" y="2964656"/>
            <a:ext cx="2414700" cy="100020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7150">
            <a:solidFill>
              <a:srgbClr val="D6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4"/>
          <p:cNvSpPr/>
          <p:nvPr/>
        </p:nvSpPr>
        <p:spPr>
          <a:xfrm>
            <a:off x="5786438" y="2964656"/>
            <a:ext cx="2414700" cy="57000"/>
          </a:xfrm>
          <a:prstGeom prst="rect">
            <a:avLst/>
          </a:prstGeom>
          <a:solidFill>
            <a:srgbClr val="8D1A23"/>
          </a:solidFill>
          <a:ln cap="flat" cmpd="sng" w="7150">
            <a:solidFill>
              <a:srgbClr val="8D1A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4"/>
          <p:cNvSpPr/>
          <p:nvPr/>
        </p:nvSpPr>
        <p:spPr>
          <a:xfrm>
            <a:off x="5986463" y="3186113"/>
            <a:ext cx="1285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26174"/>
                </a:solidFill>
              </a:rPr>
              <a:t>FAVORITE GENRE</a:t>
            </a:r>
            <a:endParaRPr sz="1100"/>
          </a:p>
        </p:txBody>
      </p:sp>
      <p:sp>
        <p:nvSpPr>
          <p:cNvPr id="495" name="Google Shape;495;p34"/>
          <p:cNvSpPr/>
          <p:nvPr/>
        </p:nvSpPr>
        <p:spPr>
          <a:xfrm>
            <a:off x="5986463" y="3400425"/>
            <a:ext cx="13572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72033"/>
                </a:solidFill>
              </a:rPr>
              <a:t>Romance</a:t>
            </a:r>
            <a:endParaRPr sz="1100"/>
          </a:p>
        </p:txBody>
      </p:sp>
      <p:sp>
        <p:nvSpPr>
          <p:cNvPr id="496" name="Google Shape;496;p34"/>
          <p:cNvSpPr/>
          <p:nvPr/>
        </p:nvSpPr>
        <p:spPr>
          <a:xfrm>
            <a:off x="7415213" y="3464719"/>
            <a:ext cx="5715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8D1A23"/>
                </a:solidFill>
              </a:rPr>
              <a:t>16.3%</a:t>
            </a:r>
            <a:endParaRPr sz="1100"/>
          </a:p>
        </p:txBody>
      </p:sp>
      <p:sp>
        <p:nvSpPr>
          <p:cNvPr id="497" name="Google Shape;497;p34"/>
          <p:cNvSpPr/>
          <p:nvPr/>
        </p:nvSpPr>
        <p:spPr>
          <a:xfrm>
            <a:off x="5986463" y="3721894"/>
            <a:ext cx="17502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526174"/>
                </a:solidFill>
              </a:rPr>
              <a:t>share of high-value customers</a:t>
            </a:r>
            <a:endParaRPr sz="1100"/>
          </a:p>
        </p:txBody>
      </p:sp>
      <p:sp>
        <p:nvSpPr>
          <p:cNvPr id="498" name="Google Shape;498;p34"/>
          <p:cNvSpPr/>
          <p:nvPr/>
        </p:nvSpPr>
        <p:spPr>
          <a:xfrm>
            <a:off x="3000375" y="4343400"/>
            <a:ext cx="1392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Descriptive takeaway</a:t>
            </a:r>
            <a:endParaRPr sz="1100"/>
          </a:p>
        </p:txBody>
      </p:sp>
      <p:sp>
        <p:nvSpPr>
          <p:cNvPr id="499" name="Google Shape;499;p34"/>
          <p:cNvSpPr/>
          <p:nvPr/>
        </p:nvSpPr>
        <p:spPr>
          <a:xfrm>
            <a:off x="3000375" y="4536281"/>
            <a:ext cx="5429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43A5C"/>
                </a:solidFill>
              </a:rPr>
              <a:t>Use these attributes to inform audience hypotheses, then validate campaign performance with future acquisition data.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5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5"/>
          <p:cNvSpPr/>
          <p:nvPr/>
        </p:nvSpPr>
        <p:spPr>
          <a:xfrm>
            <a:off x="514350" y="357188"/>
            <a:ext cx="46437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DIAGNOSTIC ANALYTICS • DEMOGRAPHIC PATTERNS</a:t>
            </a:r>
            <a:endParaRPr sz="1100"/>
          </a:p>
        </p:txBody>
      </p:sp>
      <p:sp>
        <p:nvSpPr>
          <p:cNvPr id="507" name="Google Shape;507;p35"/>
          <p:cNvSpPr/>
          <p:nvPr/>
        </p:nvSpPr>
        <p:spPr>
          <a:xfrm>
            <a:off x="514350" y="4857750"/>
            <a:ext cx="3571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A8798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508" name="Google Shape;508;p35"/>
          <p:cNvSpPr/>
          <p:nvPr/>
        </p:nvSpPr>
        <p:spPr>
          <a:xfrm>
            <a:off x="8343900" y="4829175"/>
            <a:ext cx="285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A8798"/>
                </a:solidFill>
              </a:rPr>
              <a:t>14</a:t>
            </a:r>
            <a:endParaRPr sz="1100"/>
          </a:p>
        </p:txBody>
      </p:sp>
      <p:sp>
        <p:nvSpPr>
          <p:cNvPr id="509" name="Google Shape;509;p35"/>
          <p:cNvSpPr/>
          <p:nvPr/>
        </p:nvSpPr>
        <p:spPr>
          <a:xfrm>
            <a:off x="514350" y="642938"/>
            <a:ext cx="81153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72033"/>
                </a:solidFill>
              </a:rPr>
              <a:t>Demographics show only small differences in churn</a:t>
            </a:r>
            <a:endParaRPr sz="1100"/>
          </a:p>
        </p:txBody>
      </p:sp>
      <p:sp>
        <p:nvSpPr>
          <p:cNvPr id="510" name="Google Shape;510;p35"/>
          <p:cNvSpPr/>
          <p:nvPr/>
        </p:nvSpPr>
        <p:spPr>
          <a:xfrm>
            <a:off x="514350" y="1035844"/>
            <a:ext cx="7072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174"/>
                </a:solidFill>
              </a:rPr>
              <a:t>Age group, device, region, and gender all remain close to the overall 50.4% churn baseline.</a:t>
            </a:r>
            <a:endParaRPr sz="1100"/>
          </a:p>
        </p:txBody>
      </p:sp>
      <p:sp>
        <p:nvSpPr>
          <p:cNvPr id="511" name="Google Shape;511;p35"/>
          <p:cNvSpPr/>
          <p:nvPr/>
        </p:nvSpPr>
        <p:spPr>
          <a:xfrm>
            <a:off x="7122319" y="1821656"/>
            <a:ext cx="1507200" cy="1943100"/>
          </a:xfrm>
          <a:prstGeom prst="roundRect">
            <a:avLst>
              <a:gd fmla="val 5687" name="adj"/>
            </a:avLst>
          </a:prstGeom>
          <a:solidFill>
            <a:srgbClr val="243A5C"/>
          </a:solidFill>
          <a:ln cap="flat" cmpd="sng" w="7150">
            <a:solidFill>
              <a:srgbClr val="24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5"/>
          <p:cNvSpPr/>
          <p:nvPr/>
        </p:nvSpPr>
        <p:spPr>
          <a:xfrm>
            <a:off x="7322344" y="2021681"/>
            <a:ext cx="11145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D7D9"/>
                </a:solidFill>
              </a:rPr>
              <a:t>DIAGNOSTIC TAKEAWAY</a:t>
            </a:r>
            <a:endParaRPr sz="1100"/>
          </a:p>
        </p:txBody>
      </p:sp>
      <p:sp>
        <p:nvSpPr>
          <p:cNvPr id="513" name="Google Shape;513;p35"/>
          <p:cNvSpPr/>
          <p:nvPr/>
        </p:nvSpPr>
        <p:spPr>
          <a:xfrm>
            <a:off x="7322351" y="2478875"/>
            <a:ext cx="134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</a:rPr>
              <a:t>48–52%</a:t>
            </a:r>
            <a:endParaRPr sz="1100"/>
          </a:p>
        </p:txBody>
      </p:sp>
      <p:sp>
        <p:nvSpPr>
          <p:cNvPr id="514" name="Google Shape;514;p35"/>
          <p:cNvSpPr/>
          <p:nvPr/>
        </p:nvSpPr>
        <p:spPr>
          <a:xfrm>
            <a:off x="7322349" y="3137300"/>
            <a:ext cx="427500" cy="33600"/>
          </a:xfrm>
          <a:prstGeom prst="rect">
            <a:avLst/>
          </a:prstGeom>
          <a:solidFill>
            <a:srgbClr val="466E99"/>
          </a:solidFill>
          <a:ln cap="flat" cmpd="sng" w="7150">
            <a:solidFill>
              <a:srgbClr val="466E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5"/>
          <p:cNvSpPr/>
          <p:nvPr/>
        </p:nvSpPr>
        <p:spPr>
          <a:xfrm>
            <a:off x="7311694" y="3167019"/>
            <a:ext cx="1135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AF0F6"/>
                </a:solidFill>
              </a:rPr>
              <a:t>Churn rates vary by only a few percentage points across demographic groups.</a:t>
            </a:r>
            <a:endParaRPr sz="1100"/>
          </a:p>
        </p:txBody>
      </p:sp>
      <p:sp>
        <p:nvSpPr>
          <p:cNvPr id="516" name="Google Shape;516;p35"/>
          <p:cNvSpPr/>
          <p:nvPr/>
        </p:nvSpPr>
        <p:spPr>
          <a:xfrm>
            <a:off x="7122319" y="3986213"/>
            <a:ext cx="1500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Observed pattern, not causation</a:t>
            </a:r>
            <a:endParaRPr sz="1100"/>
          </a:p>
        </p:txBody>
      </p:sp>
      <p:pic>
        <p:nvPicPr>
          <p:cNvPr id="517" name="Google Shape;51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950" y="1495600"/>
            <a:ext cx="6277275" cy="331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6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6"/>
          <p:cNvSpPr/>
          <p:nvPr/>
        </p:nvSpPr>
        <p:spPr>
          <a:xfrm>
            <a:off x="514350" y="357188"/>
            <a:ext cx="46437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DIAGNOSTIC ANALYTICS • SUBSCRIPTION RISK</a:t>
            </a:r>
            <a:endParaRPr sz="1100"/>
          </a:p>
        </p:txBody>
      </p:sp>
      <p:sp>
        <p:nvSpPr>
          <p:cNvPr id="525" name="Google Shape;525;p36"/>
          <p:cNvSpPr/>
          <p:nvPr/>
        </p:nvSpPr>
        <p:spPr>
          <a:xfrm>
            <a:off x="514350" y="4857750"/>
            <a:ext cx="3571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A8798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526" name="Google Shape;526;p36"/>
          <p:cNvSpPr/>
          <p:nvPr/>
        </p:nvSpPr>
        <p:spPr>
          <a:xfrm>
            <a:off x="8343900" y="4829175"/>
            <a:ext cx="285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A8798"/>
                </a:solidFill>
              </a:rPr>
              <a:t>15</a:t>
            </a:r>
            <a:endParaRPr sz="1100"/>
          </a:p>
        </p:txBody>
      </p:sp>
      <p:sp>
        <p:nvSpPr>
          <p:cNvPr id="527" name="Google Shape;527;p36"/>
          <p:cNvSpPr/>
          <p:nvPr/>
        </p:nvSpPr>
        <p:spPr>
          <a:xfrm>
            <a:off x="514350" y="642938"/>
            <a:ext cx="81153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72033"/>
                </a:solidFill>
              </a:rPr>
              <a:t>The Basic plan is associated with elevated churn</a:t>
            </a:r>
            <a:endParaRPr sz="1100"/>
          </a:p>
        </p:txBody>
      </p:sp>
      <p:sp>
        <p:nvSpPr>
          <p:cNvPr id="528" name="Google Shape;528;p36"/>
          <p:cNvSpPr/>
          <p:nvPr/>
        </p:nvSpPr>
        <p:spPr>
          <a:xfrm>
            <a:off x="514350" y="1035844"/>
            <a:ext cx="7715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174"/>
                </a:solidFill>
              </a:rPr>
              <a:t>The gap between Basic and higher-tier plans is large enough to prioritize plan-specific retention investigation.</a:t>
            </a:r>
            <a:endParaRPr sz="1100"/>
          </a:p>
        </p:txBody>
      </p:sp>
      <p:sp>
        <p:nvSpPr>
          <p:cNvPr id="529" name="Google Shape;529;p36"/>
          <p:cNvSpPr/>
          <p:nvPr/>
        </p:nvSpPr>
        <p:spPr>
          <a:xfrm>
            <a:off x="485775" y="1507331"/>
            <a:ext cx="5772000" cy="2843400"/>
          </a:xfrm>
          <a:prstGeom prst="roundRect">
            <a:avLst>
              <a:gd fmla="val 3015" name="adj"/>
            </a:avLst>
          </a:prstGeom>
          <a:solidFill>
            <a:srgbClr val="FFFFFF"/>
          </a:solidFill>
          <a:ln cap="flat" cmpd="sng" w="71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6"/>
          <p:cNvSpPr/>
          <p:nvPr/>
        </p:nvSpPr>
        <p:spPr>
          <a:xfrm>
            <a:off x="6536531" y="1821656"/>
            <a:ext cx="2093100" cy="1943100"/>
          </a:xfrm>
          <a:prstGeom prst="roundRect">
            <a:avLst>
              <a:gd fmla="val 4412" name="adj"/>
            </a:avLst>
          </a:prstGeom>
          <a:solidFill>
            <a:srgbClr val="243A5C"/>
          </a:solidFill>
          <a:ln cap="flat" cmpd="sng" w="7150">
            <a:solidFill>
              <a:srgbClr val="24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6"/>
          <p:cNvSpPr/>
          <p:nvPr/>
        </p:nvSpPr>
        <p:spPr>
          <a:xfrm>
            <a:off x="6736556" y="2021681"/>
            <a:ext cx="1700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D7D9"/>
                </a:solidFill>
              </a:rPr>
              <a:t>BASIC VS. PREMIUM</a:t>
            </a:r>
            <a:endParaRPr sz="1100"/>
          </a:p>
        </p:txBody>
      </p:sp>
      <p:sp>
        <p:nvSpPr>
          <p:cNvPr id="532" name="Google Shape;532;p36"/>
          <p:cNvSpPr/>
          <p:nvPr/>
        </p:nvSpPr>
        <p:spPr>
          <a:xfrm>
            <a:off x="6736556" y="2478881"/>
            <a:ext cx="17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</a:rPr>
              <a:t>+18.1 pts</a:t>
            </a:r>
            <a:endParaRPr sz="1100"/>
          </a:p>
        </p:txBody>
      </p:sp>
      <p:sp>
        <p:nvSpPr>
          <p:cNvPr id="533" name="Google Shape;533;p36"/>
          <p:cNvSpPr/>
          <p:nvPr/>
        </p:nvSpPr>
        <p:spPr>
          <a:xfrm>
            <a:off x="6736556" y="3086100"/>
            <a:ext cx="485700" cy="357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6"/>
          <p:cNvSpPr/>
          <p:nvPr/>
        </p:nvSpPr>
        <p:spPr>
          <a:xfrm>
            <a:off x="6736556" y="3236119"/>
            <a:ext cx="1721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AF0F6"/>
                </a:solidFill>
              </a:rPr>
              <a:t>Basic churn is 61.83%, compared with 43.71% for Premium subscribers.</a:t>
            </a:r>
            <a:endParaRPr sz="1100"/>
          </a:p>
        </p:txBody>
      </p:sp>
      <p:sp>
        <p:nvSpPr>
          <p:cNvPr id="535" name="Google Shape;535;p36"/>
          <p:cNvSpPr/>
          <p:nvPr/>
        </p:nvSpPr>
        <p:spPr>
          <a:xfrm>
            <a:off x="6536531" y="4036219"/>
            <a:ext cx="2071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Potential focus: Basic-plan retention offers</a:t>
            </a:r>
            <a:endParaRPr sz="1100"/>
          </a:p>
        </p:txBody>
      </p:sp>
      <p:pic>
        <p:nvPicPr>
          <p:cNvPr id="536" name="Google Shape;53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688" y="1542300"/>
            <a:ext cx="5058173" cy="277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7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7"/>
          <p:cNvSpPr/>
          <p:nvPr/>
        </p:nvSpPr>
        <p:spPr>
          <a:xfrm>
            <a:off x="514350" y="357188"/>
            <a:ext cx="46437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DIAGNOSTIC ANALYTICS • ENGAGEMENT INTENSITY</a:t>
            </a:r>
            <a:endParaRPr sz="1100"/>
          </a:p>
        </p:txBody>
      </p:sp>
      <p:sp>
        <p:nvSpPr>
          <p:cNvPr id="544" name="Google Shape;544;p37"/>
          <p:cNvSpPr/>
          <p:nvPr/>
        </p:nvSpPr>
        <p:spPr>
          <a:xfrm>
            <a:off x="514350" y="4857750"/>
            <a:ext cx="3571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A8798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545" name="Google Shape;545;p37"/>
          <p:cNvSpPr/>
          <p:nvPr/>
        </p:nvSpPr>
        <p:spPr>
          <a:xfrm>
            <a:off x="8343900" y="4829175"/>
            <a:ext cx="285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A8798"/>
                </a:solidFill>
              </a:rPr>
              <a:t>16</a:t>
            </a:r>
            <a:endParaRPr sz="1100"/>
          </a:p>
        </p:txBody>
      </p:sp>
      <p:sp>
        <p:nvSpPr>
          <p:cNvPr id="546" name="Google Shape;546;p37"/>
          <p:cNvSpPr/>
          <p:nvPr/>
        </p:nvSpPr>
        <p:spPr>
          <a:xfrm>
            <a:off x="514350" y="642938"/>
            <a:ext cx="81153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72033"/>
                </a:solidFill>
              </a:rPr>
              <a:t>Lower usage per profile is associated with churn</a:t>
            </a:r>
            <a:endParaRPr sz="1100"/>
          </a:p>
        </p:txBody>
      </p:sp>
      <p:sp>
        <p:nvSpPr>
          <p:cNvPr id="547" name="Google Shape;547;p37"/>
          <p:cNvSpPr/>
          <p:nvPr/>
        </p:nvSpPr>
        <p:spPr>
          <a:xfrm>
            <a:off x="514350" y="1035844"/>
            <a:ext cx="78582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174"/>
                </a:solidFill>
              </a:rPr>
              <a:t>The Tableau scatter plot compares watch hours per profile with monthly fee per profile for churned and retained customers.</a:t>
            </a:r>
            <a:endParaRPr sz="1100"/>
          </a:p>
        </p:txBody>
      </p:sp>
      <p:sp>
        <p:nvSpPr>
          <p:cNvPr id="548" name="Google Shape;548;p37"/>
          <p:cNvSpPr/>
          <p:nvPr/>
        </p:nvSpPr>
        <p:spPr>
          <a:xfrm>
            <a:off x="485775" y="1471613"/>
            <a:ext cx="6200700" cy="2986200"/>
          </a:xfrm>
          <a:prstGeom prst="roundRect">
            <a:avLst>
              <a:gd fmla="val 2871" name="adj"/>
            </a:avLst>
          </a:prstGeom>
          <a:solidFill>
            <a:srgbClr val="FFFFFF"/>
          </a:solidFill>
          <a:ln cap="flat" cmpd="sng" w="71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49" name="Google Shape;549;p37"/>
          <p:cNvPicPr preferRelativeResize="0"/>
          <p:nvPr/>
        </p:nvPicPr>
        <p:blipFill rotWithShape="1">
          <a:blip r:embed="rId3">
            <a:alphaModFix/>
          </a:blip>
          <a:srcRect b="1352" l="609" r="1091" t="2762"/>
          <a:stretch/>
        </p:blipFill>
        <p:spPr>
          <a:xfrm>
            <a:off x="1029625" y="1581200"/>
            <a:ext cx="5088300" cy="2808600"/>
          </a:xfrm>
          <a:prstGeom prst="roundRect">
            <a:avLst>
              <a:gd fmla="val 2927" name="adj"/>
            </a:avLst>
          </a:prstGeom>
          <a:noFill/>
          <a:ln>
            <a:noFill/>
          </a:ln>
        </p:spPr>
      </p:pic>
      <p:sp>
        <p:nvSpPr>
          <p:cNvPr id="550" name="Google Shape;550;p37"/>
          <p:cNvSpPr/>
          <p:nvPr/>
        </p:nvSpPr>
        <p:spPr>
          <a:xfrm>
            <a:off x="6915150" y="1800225"/>
            <a:ext cx="1714500" cy="2143200"/>
          </a:xfrm>
          <a:prstGeom prst="roundRect">
            <a:avLst>
              <a:gd fmla="val 5000" name="adj"/>
            </a:avLst>
          </a:prstGeom>
          <a:solidFill>
            <a:srgbClr val="243A5C"/>
          </a:solidFill>
          <a:ln cap="flat" cmpd="sng" w="71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7"/>
          <p:cNvSpPr/>
          <p:nvPr/>
        </p:nvSpPr>
        <p:spPr>
          <a:xfrm>
            <a:off x="7086756" y="2367869"/>
            <a:ext cx="1285800" cy="5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</a:rPr>
              <a:t>Churned points cluster more heavily at lower viewing levels, supporting engagement-based retention actions.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8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8"/>
          <p:cNvSpPr/>
          <p:nvPr/>
        </p:nvSpPr>
        <p:spPr>
          <a:xfrm>
            <a:off x="514350" y="357188"/>
            <a:ext cx="46437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DIAGNOSTIC ANALYTICS • RECENCY &amp; VIEWING BEHAVIOR</a:t>
            </a:r>
            <a:endParaRPr sz="1100"/>
          </a:p>
        </p:txBody>
      </p:sp>
      <p:sp>
        <p:nvSpPr>
          <p:cNvPr id="559" name="Google Shape;559;p38"/>
          <p:cNvSpPr/>
          <p:nvPr/>
        </p:nvSpPr>
        <p:spPr>
          <a:xfrm>
            <a:off x="514350" y="4857750"/>
            <a:ext cx="3571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A8798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560" name="Google Shape;560;p38"/>
          <p:cNvSpPr/>
          <p:nvPr/>
        </p:nvSpPr>
        <p:spPr>
          <a:xfrm>
            <a:off x="8343900" y="4829175"/>
            <a:ext cx="285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A8798"/>
                </a:solidFill>
              </a:rPr>
              <a:t>17</a:t>
            </a:r>
            <a:endParaRPr sz="1100"/>
          </a:p>
        </p:txBody>
      </p:sp>
      <p:sp>
        <p:nvSpPr>
          <p:cNvPr id="561" name="Google Shape;561;p38"/>
          <p:cNvSpPr/>
          <p:nvPr/>
        </p:nvSpPr>
        <p:spPr>
          <a:xfrm>
            <a:off x="514350" y="642938"/>
            <a:ext cx="81153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72033"/>
                </a:solidFill>
              </a:rPr>
              <a:t>Inactivity and low viewing are the clearest churn signals</a:t>
            </a:r>
            <a:endParaRPr sz="1100"/>
          </a:p>
        </p:txBody>
      </p:sp>
      <p:sp>
        <p:nvSpPr>
          <p:cNvPr id="562" name="Google Shape;562;p38"/>
          <p:cNvSpPr/>
          <p:nvPr/>
        </p:nvSpPr>
        <p:spPr>
          <a:xfrm>
            <a:off x="514350" y="1035844"/>
            <a:ext cx="6643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174"/>
                </a:solidFill>
              </a:rPr>
              <a:t>Churn rises as days since last login increase and as overall watch hours decrease.</a:t>
            </a:r>
            <a:endParaRPr sz="1100"/>
          </a:p>
        </p:txBody>
      </p:sp>
      <p:sp>
        <p:nvSpPr>
          <p:cNvPr id="563" name="Google Shape;563;p38"/>
          <p:cNvSpPr/>
          <p:nvPr/>
        </p:nvSpPr>
        <p:spPr>
          <a:xfrm>
            <a:off x="485775" y="1478756"/>
            <a:ext cx="6200700" cy="2986200"/>
          </a:xfrm>
          <a:prstGeom prst="roundRect">
            <a:avLst>
              <a:gd fmla="val 2871" name="adj"/>
            </a:avLst>
          </a:prstGeom>
          <a:solidFill>
            <a:srgbClr val="FFFFFF"/>
          </a:solidFill>
          <a:ln cap="flat" cmpd="sng" w="71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4" name="Google Shape;564;p38"/>
          <p:cNvPicPr preferRelativeResize="0"/>
          <p:nvPr/>
        </p:nvPicPr>
        <p:blipFill rotWithShape="1">
          <a:blip r:embed="rId3">
            <a:alphaModFix/>
          </a:blip>
          <a:srcRect b="7724" l="0" r="2076" t="11311"/>
          <a:stretch/>
        </p:blipFill>
        <p:spPr>
          <a:xfrm>
            <a:off x="633600" y="1588100"/>
            <a:ext cx="5948700" cy="2767500"/>
          </a:xfrm>
          <a:prstGeom prst="roundRect">
            <a:avLst>
              <a:gd fmla="val 2927" name="adj"/>
            </a:avLst>
          </a:prstGeom>
          <a:noFill/>
          <a:ln>
            <a:noFill/>
          </a:ln>
        </p:spPr>
      </p:pic>
      <p:sp>
        <p:nvSpPr>
          <p:cNvPr id="565" name="Google Shape;565;p38"/>
          <p:cNvSpPr/>
          <p:nvPr/>
        </p:nvSpPr>
        <p:spPr>
          <a:xfrm>
            <a:off x="6915150" y="1785938"/>
            <a:ext cx="1714500" cy="1943100"/>
          </a:xfrm>
          <a:prstGeom prst="roundRect">
            <a:avLst>
              <a:gd fmla="val 5000" name="adj"/>
            </a:avLst>
          </a:prstGeom>
          <a:solidFill>
            <a:srgbClr val="243A5C"/>
          </a:solidFill>
          <a:ln cap="flat" cmpd="sng" w="7150">
            <a:solidFill>
              <a:srgbClr val="24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8"/>
          <p:cNvSpPr/>
          <p:nvPr/>
        </p:nvSpPr>
        <p:spPr>
          <a:xfrm>
            <a:off x="7115175" y="1985963"/>
            <a:ext cx="1321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D7D9"/>
                </a:solidFill>
              </a:rPr>
              <a:t>RISK ESCALATES</a:t>
            </a:r>
            <a:endParaRPr sz="1100"/>
          </a:p>
        </p:txBody>
      </p:sp>
      <p:sp>
        <p:nvSpPr>
          <p:cNvPr id="567" name="Google Shape;567;p38"/>
          <p:cNvSpPr/>
          <p:nvPr/>
        </p:nvSpPr>
        <p:spPr>
          <a:xfrm>
            <a:off x="7115175" y="2443163"/>
            <a:ext cx="132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</a:rPr>
              <a:t>76.6%</a:t>
            </a:r>
            <a:endParaRPr sz="1100"/>
          </a:p>
        </p:txBody>
      </p:sp>
      <p:sp>
        <p:nvSpPr>
          <p:cNvPr id="568" name="Google Shape;568;p38"/>
          <p:cNvSpPr/>
          <p:nvPr/>
        </p:nvSpPr>
        <p:spPr>
          <a:xfrm>
            <a:off x="7115175" y="3050381"/>
            <a:ext cx="485700" cy="35700"/>
          </a:xfrm>
          <a:prstGeom prst="rect">
            <a:avLst/>
          </a:prstGeom>
          <a:solidFill>
            <a:srgbClr val="FF9418"/>
          </a:solidFill>
          <a:ln cap="flat" cmpd="sng" w="7150">
            <a:solidFill>
              <a:srgbClr val="FF941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38"/>
          <p:cNvSpPr/>
          <p:nvPr/>
        </p:nvSpPr>
        <p:spPr>
          <a:xfrm>
            <a:off x="7115175" y="3200400"/>
            <a:ext cx="134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AF0F6"/>
                </a:solidFill>
              </a:rPr>
              <a:t>Churn among customers inactive for 43–60 days.</a:t>
            </a:r>
            <a:endParaRPr sz="1100"/>
          </a:p>
        </p:txBody>
      </p:sp>
      <p:sp>
        <p:nvSpPr>
          <p:cNvPr id="570" name="Google Shape;570;p38"/>
          <p:cNvSpPr/>
          <p:nvPr/>
        </p:nvSpPr>
        <p:spPr>
          <a:xfrm>
            <a:off x="6915150" y="4000500"/>
            <a:ext cx="16788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Lowest watch-hour group: 84.12% churn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9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9"/>
          <p:cNvSpPr/>
          <p:nvPr/>
        </p:nvSpPr>
        <p:spPr>
          <a:xfrm>
            <a:off x="514350" y="357188"/>
            <a:ext cx="46437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DIAGNOSTIC ANALYTICS • COMBINED RISK PATTERN</a:t>
            </a:r>
            <a:endParaRPr sz="1100"/>
          </a:p>
        </p:txBody>
      </p:sp>
      <p:sp>
        <p:nvSpPr>
          <p:cNvPr id="578" name="Google Shape;578;p39"/>
          <p:cNvSpPr/>
          <p:nvPr/>
        </p:nvSpPr>
        <p:spPr>
          <a:xfrm>
            <a:off x="514350" y="4857750"/>
            <a:ext cx="3571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A8798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579" name="Google Shape;579;p39"/>
          <p:cNvSpPr/>
          <p:nvPr/>
        </p:nvSpPr>
        <p:spPr>
          <a:xfrm>
            <a:off x="8343900" y="4829175"/>
            <a:ext cx="285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7A8798"/>
                </a:solidFill>
              </a:rPr>
              <a:t>18</a:t>
            </a:r>
            <a:endParaRPr sz="1100"/>
          </a:p>
        </p:txBody>
      </p:sp>
      <p:sp>
        <p:nvSpPr>
          <p:cNvPr id="580" name="Google Shape;580;p39"/>
          <p:cNvSpPr/>
          <p:nvPr/>
        </p:nvSpPr>
        <p:spPr>
          <a:xfrm>
            <a:off x="514350" y="642938"/>
            <a:ext cx="81153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72033"/>
                </a:solidFill>
              </a:rPr>
              <a:t>Low viewing and long inactivity compound churn risk</a:t>
            </a:r>
            <a:endParaRPr sz="1100"/>
          </a:p>
        </p:txBody>
      </p:sp>
      <p:sp>
        <p:nvSpPr>
          <p:cNvPr id="581" name="Google Shape;581;p39"/>
          <p:cNvSpPr/>
          <p:nvPr/>
        </p:nvSpPr>
        <p:spPr>
          <a:xfrm>
            <a:off x="514350" y="1035844"/>
            <a:ext cx="7929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26174"/>
                </a:solidFill>
              </a:rPr>
              <a:t>The heatmap shows that the highest observed churn rates occur when low engagement is paired with a long period since last login.</a:t>
            </a:r>
            <a:endParaRPr sz="1100"/>
          </a:p>
        </p:txBody>
      </p:sp>
      <p:sp>
        <p:nvSpPr>
          <p:cNvPr id="582" name="Google Shape;582;p39"/>
          <p:cNvSpPr/>
          <p:nvPr/>
        </p:nvSpPr>
        <p:spPr>
          <a:xfrm>
            <a:off x="485775" y="1478756"/>
            <a:ext cx="6558000" cy="2986200"/>
          </a:xfrm>
          <a:prstGeom prst="roundRect">
            <a:avLst>
              <a:gd fmla="val 2871" name="adj"/>
            </a:avLst>
          </a:prstGeom>
          <a:solidFill>
            <a:srgbClr val="FFFFFF"/>
          </a:solidFill>
          <a:ln cap="flat" cmpd="sng" w="71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9"/>
          <p:cNvSpPr/>
          <p:nvPr/>
        </p:nvSpPr>
        <p:spPr>
          <a:xfrm>
            <a:off x="7229475" y="1821656"/>
            <a:ext cx="1400100" cy="1943100"/>
          </a:xfrm>
          <a:prstGeom prst="roundRect">
            <a:avLst>
              <a:gd fmla="val 6122" name="adj"/>
            </a:avLst>
          </a:prstGeom>
          <a:solidFill>
            <a:srgbClr val="243A5C"/>
          </a:solidFill>
          <a:ln cap="flat" cmpd="sng" w="7150">
            <a:solidFill>
              <a:srgbClr val="24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9"/>
          <p:cNvSpPr/>
          <p:nvPr/>
        </p:nvSpPr>
        <p:spPr>
          <a:xfrm>
            <a:off x="7429500" y="2021681"/>
            <a:ext cx="10074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D7D9"/>
                </a:solidFill>
              </a:rPr>
              <a:t>HIGHEST CELL</a:t>
            </a:r>
            <a:endParaRPr sz="1100"/>
          </a:p>
        </p:txBody>
      </p:sp>
      <p:sp>
        <p:nvSpPr>
          <p:cNvPr id="585" name="Google Shape;585;p39"/>
          <p:cNvSpPr/>
          <p:nvPr/>
        </p:nvSpPr>
        <p:spPr>
          <a:xfrm>
            <a:off x="7429500" y="2389631"/>
            <a:ext cx="100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FFFF"/>
                </a:solidFill>
              </a:rPr>
              <a:t>100%</a:t>
            </a:r>
            <a:endParaRPr sz="1100"/>
          </a:p>
        </p:txBody>
      </p:sp>
      <p:sp>
        <p:nvSpPr>
          <p:cNvPr id="586" name="Google Shape;586;p39"/>
          <p:cNvSpPr/>
          <p:nvPr/>
        </p:nvSpPr>
        <p:spPr>
          <a:xfrm>
            <a:off x="7429500" y="2994013"/>
            <a:ext cx="485700" cy="35700"/>
          </a:xfrm>
          <a:prstGeom prst="rect">
            <a:avLst/>
          </a:prstGeom>
          <a:solidFill>
            <a:srgbClr val="1D6593"/>
          </a:solidFill>
          <a:ln cap="flat" cmpd="sng" w="7150">
            <a:solidFill>
              <a:srgbClr val="1D65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9"/>
          <p:cNvSpPr/>
          <p:nvPr/>
        </p:nvSpPr>
        <p:spPr>
          <a:xfrm>
            <a:off x="7418850" y="3107694"/>
            <a:ext cx="1028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EAF0F6"/>
                </a:solidFill>
              </a:rPr>
              <a:t>Observed churn for 0–5 hours watched and 43–60 days since login.</a:t>
            </a:r>
            <a:endParaRPr sz="1100"/>
          </a:p>
        </p:txBody>
      </p:sp>
      <p:sp>
        <p:nvSpPr>
          <p:cNvPr id="588" name="Google Shape;588;p39"/>
          <p:cNvSpPr/>
          <p:nvPr/>
        </p:nvSpPr>
        <p:spPr>
          <a:xfrm>
            <a:off x="7200900" y="4000500"/>
            <a:ext cx="14289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Use this combination to prioritize outreach</a:t>
            </a:r>
            <a:endParaRPr sz="1100"/>
          </a:p>
        </p:txBody>
      </p:sp>
      <p:pic>
        <p:nvPicPr>
          <p:cNvPr id="589" name="Google Shape;58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325" y="1571238"/>
            <a:ext cx="5428901" cy="2881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0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0"/>
          <p:cNvSpPr/>
          <p:nvPr/>
        </p:nvSpPr>
        <p:spPr>
          <a:xfrm>
            <a:off x="5857875" y="85725"/>
            <a:ext cx="3286200" cy="5057700"/>
          </a:xfrm>
          <a:prstGeom prst="rect">
            <a:avLst/>
          </a:prstGeom>
          <a:solidFill>
            <a:srgbClr val="243A5C"/>
          </a:solidFill>
          <a:ln cap="flat" cmpd="sng" w="7150">
            <a:solidFill>
              <a:srgbClr val="24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40"/>
          <p:cNvSpPr/>
          <p:nvPr/>
        </p:nvSpPr>
        <p:spPr>
          <a:xfrm>
            <a:off x="514350" y="371475"/>
            <a:ext cx="600000" cy="35700"/>
          </a:xfrm>
          <a:prstGeom prst="rect">
            <a:avLst/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40"/>
          <p:cNvSpPr/>
          <p:nvPr/>
        </p:nvSpPr>
        <p:spPr>
          <a:xfrm>
            <a:off x="514350" y="550069"/>
            <a:ext cx="25005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PREDICTIVE ANALYTICS</a:t>
            </a:r>
            <a:endParaRPr sz="1100"/>
          </a:p>
        </p:txBody>
      </p:sp>
      <p:sp>
        <p:nvSpPr>
          <p:cNvPr id="599" name="Google Shape;599;p40"/>
          <p:cNvSpPr/>
          <p:nvPr/>
        </p:nvSpPr>
        <p:spPr>
          <a:xfrm>
            <a:off x="514350" y="871538"/>
            <a:ext cx="5000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72033"/>
                </a:solidFill>
              </a:rPr>
              <a:t>From churn patterns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72033"/>
                </a:solidFill>
              </a:rPr>
              <a:t>to churn-risk scores</a:t>
            </a:r>
            <a:endParaRPr sz="1100"/>
          </a:p>
        </p:txBody>
      </p:sp>
      <p:sp>
        <p:nvSpPr>
          <p:cNvPr id="600" name="Google Shape;600;p40"/>
          <p:cNvSpPr/>
          <p:nvPr/>
        </p:nvSpPr>
        <p:spPr>
          <a:xfrm>
            <a:off x="514350" y="1971675"/>
            <a:ext cx="48219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26174"/>
                </a:solidFill>
              </a:rPr>
              <a:t>We train models on historical customer behavior, then test how well they identify subscribers likely to churn.</a:t>
            </a:r>
            <a:endParaRPr sz="1100"/>
          </a:p>
        </p:txBody>
      </p:sp>
      <p:sp>
        <p:nvSpPr>
          <p:cNvPr id="601" name="Google Shape;601;p40"/>
          <p:cNvSpPr/>
          <p:nvPr/>
        </p:nvSpPr>
        <p:spPr>
          <a:xfrm>
            <a:off x="514350" y="2836069"/>
            <a:ext cx="1428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MODEL OBJECTIVE</a:t>
            </a:r>
            <a:endParaRPr sz="1100"/>
          </a:p>
        </p:txBody>
      </p:sp>
      <p:sp>
        <p:nvSpPr>
          <p:cNvPr id="602" name="Google Shape;602;p40"/>
          <p:cNvSpPr/>
          <p:nvPr/>
        </p:nvSpPr>
        <p:spPr>
          <a:xfrm>
            <a:off x="514350" y="3064669"/>
            <a:ext cx="22146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72033"/>
                </a:solidFill>
              </a:rPr>
              <a:t>Predict the probability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72033"/>
                </a:solidFill>
              </a:rPr>
              <a:t>that a current subscriber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72033"/>
                </a:solidFill>
              </a:rPr>
              <a:t>will churn.</a:t>
            </a:r>
            <a:endParaRPr sz="1100"/>
          </a:p>
        </p:txBody>
      </p:sp>
      <p:cxnSp>
        <p:nvCxnSpPr>
          <p:cNvPr id="603" name="Google Shape;603;p40"/>
          <p:cNvCxnSpPr/>
          <p:nvPr/>
        </p:nvCxnSpPr>
        <p:spPr>
          <a:xfrm>
            <a:off x="6750844" y="2407444"/>
            <a:ext cx="1557600" cy="0"/>
          </a:xfrm>
          <a:prstGeom prst="straightConnector1">
            <a:avLst/>
          </a:prstGeom>
          <a:noFill/>
          <a:ln cap="flat" cmpd="sng" w="28575">
            <a:solidFill>
              <a:srgbClr val="6681A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4" name="Google Shape;604;p40"/>
          <p:cNvSpPr/>
          <p:nvPr/>
        </p:nvSpPr>
        <p:spPr>
          <a:xfrm>
            <a:off x="7515225" y="2293144"/>
            <a:ext cx="3144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50914"/>
          </a:solidFill>
          <a:ln cap="flat" cmpd="sng" w="7150">
            <a:solidFill>
              <a:srgbClr val="E509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0"/>
          <p:cNvSpPr/>
          <p:nvPr/>
        </p:nvSpPr>
        <p:spPr>
          <a:xfrm>
            <a:off x="6143625" y="528638"/>
            <a:ext cx="22860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D7D9"/>
                </a:solidFill>
              </a:rPr>
              <a:t>TRAIN / TEST SPLIT</a:t>
            </a:r>
            <a:endParaRPr sz="1100"/>
          </a:p>
        </p:txBody>
      </p:sp>
      <p:sp>
        <p:nvSpPr>
          <p:cNvPr id="606" name="Google Shape;606;p40"/>
          <p:cNvSpPr/>
          <p:nvPr/>
        </p:nvSpPr>
        <p:spPr>
          <a:xfrm>
            <a:off x="6143625" y="785813"/>
            <a:ext cx="24288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</a:rPr>
              <a:t>A balanced 80 / 20 evaluation</a:t>
            </a:r>
            <a:endParaRPr sz="1100"/>
          </a:p>
        </p:txBody>
      </p:sp>
      <p:sp>
        <p:nvSpPr>
          <p:cNvPr id="607" name="Google Shape;607;p40"/>
          <p:cNvSpPr/>
          <p:nvPr/>
        </p:nvSpPr>
        <p:spPr>
          <a:xfrm>
            <a:off x="6643688" y="1485900"/>
            <a:ext cx="1071600" cy="1357200"/>
          </a:xfrm>
          <a:prstGeom prst="roundRect">
            <a:avLst>
              <a:gd fmla="val 8000" name="adj"/>
            </a:avLst>
          </a:prstGeom>
          <a:solidFill>
            <a:srgbClr val="315271"/>
          </a:solidFill>
          <a:ln cap="flat" cmpd="sng" w="7150">
            <a:solidFill>
              <a:srgbClr val="5874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0"/>
          <p:cNvSpPr/>
          <p:nvPr/>
        </p:nvSpPr>
        <p:spPr>
          <a:xfrm>
            <a:off x="7858125" y="1485900"/>
            <a:ext cx="857400" cy="13572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7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40"/>
          <p:cNvSpPr/>
          <p:nvPr/>
        </p:nvSpPr>
        <p:spPr>
          <a:xfrm>
            <a:off x="6800850" y="1700213"/>
            <a:ext cx="750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FFFF"/>
                </a:solidFill>
              </a:rPr>
              <a:t>80%</a:t>
            </a:r>
            <a:endParaRPr sz="1300"/>
          </a:p>
        </p:txBody>
      </p:sp>
      <p:sp>
        <p:nvSpPr>
          <p:cNvPr id="610" name="Google Shape;610;p40"/>
          <p:cNvSpPr/>
          <p:nvPr/>
        </p:nvSpPr>
        <p:spPr>
          <a:xfrm>
            <a:off x="6786563" y="2157413"/>
            <a:ext cx="786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D7D9"/>
                </a:solidFill>
              </a:rPr>
              <a:t>TRAIN</a:t>
            </a:r>
            <a:endParaRPr sz="1100"/>
          </a:p>
        </p:txBody>
      </p:sp>
      <p:sp>
        <p:nvSpPr>
          <p:cNvPr id="611" name="Google Shape;611;p40"/>
          <p:cNvSpPr/>
          <p:nvPr/>
        </p:nvSpPr>
        <p:spPr>
          <a:xfrm>
            <a:off x="6786563" y="2400300"/>
            <a:ext cx="786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3,992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records</a:t>
            </a:r>
            <a:endParaRPr sz="1100"/>
          </a:p>
        </p:txBody>
      </p:sp>
      <p:sp>
        <p:nvSpPr>
          <p:cNvPr id="612" name="Google Shape;612;p40"/>
          <p:cNvSpPr/>
          <p:nvPr/>
        </p:nvSpPr>
        <p:spPr>
          <a:xfrm>
            <a:off x="7929563" y="1700213"/>
            <a:ext cx="71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243A5C"/>
                </a:solidFill>
              </a:rPr>
              <a:t>20%</a:t>
            </a:r>
            <a:endParaRPr sz="1300"/>
          </a:p>
        </p:txBody>
      </p:sp>
      <p:sp>
        <p:nvSpPr>
          <p:cNvPr id="613" name="Google Shape;613;p40"/>
          <p:cNvSpPr/>
          <p:nvPr/>
        </p:nvSpPr>
        <p:spPr>
          <a:xfrm>
            <a:off x="7929563" y="2157413"/>
            <a:ext cx="714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E50914"/>
                </a:solidFill>
              </a:rPr>
              <a:t>TEST</a:t>
            </a:r>
            <a:endParaRPr sz="1100"/>
          </a:p>
        </p:txBody>
      </p:sp>
      <p:sp>
        <p:nvSpPr>
          <p:cNvPr id="614" name="Google Shape;614;p40"/>
          <p:cNvSpPr/>
          <p:nvPr/>
        </p:nvSpPr>
        <p:spPr>
          <a:xfrm>
            <a:off x="7929563" y="2400300"/>
            <a:ext cx="7143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43A5C"/>
                </a:solidFill>
              </a:rPr>
              <a:t>998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43A5C"/>
                </a:solidFill>
              </a:rPr>
              <a:t>records</a:t>
            </a:r>
            <a:endParaRPr sz="1100"/>
          </a:p>
        </p:txBody>
      </p:sp>
      <p:sp>
        <p:nvSpPr>
          <p:cNvPr id="615" name="Google Shape;615;p40"/>
          <p:cNvSpPr/>
          <p:nvPr/>
        </p:nvSpPr>
        <p:spPr>
          <a:xfrm>
            <a:off x="6643688" y="3257550"/>
            <a:ext cx="2071800" cy="821400"/>
          </a:xfrm>
          <a:prstGeom prst="roundRect">
            <a:avLst>
              <a:gd fmla="val 10435" name="adj"/>
            </a:avLst>
          </a:prstGeom>
          <a:solidFill>
            <a:srgbClr val="1B2C45"/>
          </a:solidFill>
          <a:ln cap="flat" cmpd="sng" w="7150">
            <a:solidFill>
              <a:srgbClr val="3E55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40"/>
          <p:cNvSpPr/>
          <p:nvPr/>
        </p:nvSpPr>
        <p:spPr>
          <a:xfrm>
            <a:off x="6815138" y="3429000"/>
            <a:ext cx="17145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</a:rPr>
              <a:t>50.4% CHURN RATE</a:t>
            </a:r>
            <a:endParaRPr sz="1100"/>
          </a:p>
        </p:txBody>
      </p:sp>
      <p:sp>
        <p:nvSpPr>
          <p:cNvPr id="617" name="Google Shape;617;p40"/>
          <p:cNvSpPr/>
          <p:nvPr/>
        </p:nvSpPr>
        <p:spPr>
          <a:xfrm>
            <a:off x="6772275" y="3721894"/>
            <a:ext cx="1800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AFBCCD"/>
                </a:solidFill>
              </a:rPr>
              <a:t>Preserved in both training and test sets</a:t>
            </a:r>
            <a:endParaRPr sz="1100"/>
          </a:p>
        </p:txBody>
      </p:sp>
      <p:sp>
        <p:nvSpPr>
          <p:cNvPr id="618" name="Google Shape;618;p40"/>
          <p:cNvSpPr/>
          <p:nvPr/>
        </p:nvSpPr>
        <p:spPr>
          <a:xfrm>
            <a:off x="514350" y="4286250"/>
            <a:ext cx="49293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50914"/>
                </a:solidFill>
              </a:rPr>
              <a:t>Next: compare model performance and score customer risk.</a:t>
            </a:r>
            <a:endParaRPr sz="1100"/>
          </a:p>
        </p:txBody>
      </p:sp>
      <p:sp>
        <p:nvSpPr>
          <p:cNvPr id="619" name="Google Shape;619;p40"/>
          <p:cNvSpPr/>
          <p:nvPr/>
        </p:nvSpPr>
        <p:spPr>
          <a:xfrm>
            <a:off x="514350" y="4857750"/>
            <a:ext cx="3571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7A8798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620" name="Google Shape;620;p40"/>
          <p:cNvSpPr/>
          <p:nvPr/>
        </p:nvSpPr>
        <p:spPr>
          <a:xfrm>
            <a:off x="8343900" y="4829175"/>
            <a:ext cx="285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99A9BC"/>
                </a:solidFill>
              </a:rPr>
              <a:t>19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1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1"/>
          <p:cNvSpPr/>
          <p:nvPr/>
        </p:nvSpPr>
        <p:spPr>
          <a:xfrm>
            <a:off x="528638" y="371475"/>
            <a:ext cx="643200" cy="429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41"/>
          <p:cNvSpPr/>
          <p:nvPr/>
        </p:nvSpPr>
        <p:spPr>
          <a:xfrm>
            <a:off x="528638" y="585788"/>
            <a:ext cx="32862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PREDICTIVE ANALYTICS  |  MODEL 1</a:t>
            </a:r>
            <a:endParaRPr sz="1100"/>
          </a:p>
        </p:txBody>
      </p:sp>
      <p:sp>
        <p:nvSpPr>
          <p:cNvPr id="629" name="Google Shape;629;p41"/>
          <p:cNvSpPr/>
          <p:nvPr/>
        </p:nvSpPr>
        <p:spPr>
          <a:xfrm>
            <a:off x="528638" y="828675"/>
            <a:ext cx="54291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172033"/>
                </a:solidFill>
              </a:rPr>
              <a:t>Logistic regression test results</a:t>
            </a:r>
            <a:endParaRPr sz="1100"/>
          </a:p>
        </p:txBody>
      </p:sp>
      <p:sp>
        <p:nvSpPr>
          <p:cNvPr id="630" name="Google Shape;630;p41"/>
          <p:cNvSpPr/>
          <p:nvPr/>
        </p:nvSpPr>
        <p:spPr>
          <a:xfrm>
            <a:off x="528638" y="1200150"/>
            <a:ext cx="5429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26174"/>
                </a:solidFill>
              </a:rPr>
              <a:t>The baseline model identifies churn risk with strong accuracy, recall, and discrimination.</a:t>
            </a:r>
            <a:endParaRPr sz="1100"/>
          </a:p>
        </p:txBody>
      </p:sp>
      <p:sp>
        <p:nvSpPr>
          <p:cNvPr id="631" name="Google Shape;631;p41"/>
          <p:cNvSpPr/>
          <p:nvPr/>
        </p:nvSpPr>
        <p:spPr>
          <a:xfrm>
            <a:off x="528638" y="1557338"/>
            <a:ext cx="6100800" cy="3007500"/>
          </a:xfrm>
          <a:prstGeom prst="roundRect">
            <a:avLst>
              <a:gd fmla="val 3800" name="adj"/>
            </a:avLst>
          </a:prstGeom>
          <a:solidFill>
            <a:srgbClr val="FFFFFF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41"/>
          <p:cNvSpPr/>
          <p:nvPr/>
        </p:nvSpPr>
        <p:spPr>
          <a:xfrm>
            <a:off x="700088" y="1700213"/>
            <a:ext cx="18573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COMPLETE TEST-SET OUTPUT</a:t>
            </a:r>
            <a:endParaRPr sz="1100"/>
          </a:p>
        </p:txBody>
      </p:sp>
      <p:pic>
        <p:nvPicPr>
          <p:cNvPr id="633" name="Google Shape;63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9138" y="1907381"/>
            <a:ext cx="4359763" cy="2428876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41"/>
          <p:cNvSpPr/>
          <p:nvPr/>
        </p:nvSpPr>
        <p:spPr>
          <a:xfrm>
            <a:off x="6815138" y="1557338"/>
            <a:ext cx="1800300" cy="914400"/>
          </a:xfrm>
          <a:prstGeom prst="roundRect">
            <a:avLst>
              <a:gd fmla="val 12500" name="adj"/>
            </a:avLst>
          </a:prstGeom>
          <a:solidFill>
            <a:srgbClr val="EAF1F8"/>
          </a:solidFill>
          <a:ln cap="flat" cmpd="sng" w="7150">
            <a:solidFill>
              <a:srgbClr val="C9D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41"/>
          <p:cNvSpPr/>
          <p:nvPr/>
        </p:nvSpPr>
        <p:spPr>
          <a:xfrm>
            <a:off x="6979444" y="1700213"/>
            <a:ext cx="12858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MODEL READOUT</a:t>
            </a:r>
            <a:endParaRPr sz="1100"/>
          </a:p>
        </p:txBody>
      </p:sp>
      <p:sp>
        <p:nvSpPr>
          <p:cNvPr id="636" name="Google Shape;636;p41"/>
          <p:cNvSpPr/>
          <p:nvPr/>
        </p:nvSpPr>
        <p:spPr>
          <a:xfrm>
            <a:off x="6979444" y="1900238"/>
            <a:ext cx="1143000" cy="2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72033"/>
                </a:solidFill>
              </a:rPr>
              <a:t>0.965</a:t>
            </a:r>
            <a:endParaRPr sz="1100"/>
          </a:p>
        </p:txBody>
      </p:sp>
      <p:sp>
        <p:nvSpPr>
          <p:cNvPr id="637" name="Google Shape;637;p41"/>
          <p:cNvSpPr/>
          <p:nvPr/>
        </p:nvSpPr>
        <p:spPr>
          <a:xfrm>
            <a:off x="6979444" y="2193131"/>
            <a:ext cx="8574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26174"/>
                </a:solidFill>
              </a:rPr>
              <a:t>ROC–AUC</a:t>
            </a:r>
            <a:endParaRPr sz="1100"/>
          </a:p>
        </p:txBody>
      </p:sp>
      <p:sp>
        <p:nvSpPr>
          <p:cNvPr id="638" name="Google Shape;638;p41"/>
          <p:cNvSpPr/>
          <p:nvPr/>
        </p:nvSpPr>
        <p:spPr>
          <a:xfrm>
            <a:off x="6815138" y="2621756"/>
            <a:ext cx="1800300" cy="893100"/>
          </a:xfrm>
          <a:prstGeom prst="roundRect">
            <a:avLst>
              <a:gd fmla="val 12800" name="adj"/>
            </a:avLst>
          </a:prstGeom>
          <a:solidFill>
            <a:srgbClr val="FFFFFF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41"/>
          <p:cNvSpPr/>
          <p:nvPr/>
        </p:nvSpPr>
        <p:spPr>
          <a:xfrm>
            <a:off x="6979444" y="2764631"/>
            <a:ext cx="7860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72033"/>
                </a:solidFill>
              </a:rPr>
              <a:t>89.4%</a:t>
            </a:r>
            <a:endParaRPr sz="1100"/>
          </a:p>
        </p:txBody>
      </p:sp>
      <p:sp>
        <p:nvSpPr>
          <p:cNvPr id="640" name="Google Shape;640;p41"/>
          <p:cNvSpPr/>
          <p:nvPr/>
        </p:nvSpPr>
        <p:spPr>
          <a:xfrm>
            <a:off x="6979444" y="2993231"/>
            <a:ext cx="6432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26174"/>
                </a:solidFill>
              </a:rPr>
              <a:t>Accuracy</a:t>
            </a:r>
            <a:endParaRPr sz="1100"/>
          </a:p>
        </p:txBody>
      </p:sp>
      <p:sp>
        <p:nvSpPr>
          <p:cNvPr id="641" name="Google Shape;641;p41"/>
          <p:cNvSpPr/>
          <p:nvPr/>
        </p:nvSpPr>
        <p:spPr>
          <a:xfrm>
            <a:off x="7786688" y="2764631"/>
            <a:ext cx="6858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72033"/>
                </a:solidFill>
              </a:rPr>
              <a:t>90.1%</a:t>
            </a:r>
            <a:endParaRPr sz="1100"/>
          </a:p>
        </p:txBody>
      </p:sp>
      <p:sp>
        <p:nvSpPr>
          <p:cNvPr id="642" name="Google Shape;642;p41"/>
          <p:cNvSpPr/>
          <p:nvPr/>
        </p:nvSpPr>
        <p:spPr>
          <a:xfrm>
            <a:off x="7786688" y="2993231"/>
            <a:ext cx="543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26174"/>
                </a:solidFill>
              </a:rPr>
              <a:t>Recall</a:t>
            </a:r>
            <a:endParaRPr sz="1100"/>
          </a:p>
        </p:txBody>
      </p:sp>
      <p:sp>
        <p:nvSpPr>
          <p:cNvPr id="643" name="Google Shape;643;p41"/>
          <p:cNvSpPr/>
          <p:nvPr/>
        </p:nvSpPr>
        <p:spPr>
          <a:xfrm>
            <a:off x="6815138" y="3679031"/>
            <a:ext cx="1800300" cy="885900"/>
          </a:xfrm>
          <a:prstGeom prst="roundRect">
            <a:avLst>
              <a:gd fmla="val 12903" name="adj"/>
            </a:avLst>
          </a:prstGeom>
          <a:solidFill>
            <a:srgbClr val="FBE5E7"/>
          </a:solidFill>
          <a:ln cap="flat" cmpd="sng" w="7150">
            <a:solidFill>
              <a:srgbClr val="F2C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1"/>
          <p:cNvSpPr/>
          <p:nvPr/>
        </p:nvSpPr>
        <p:spPr>
          <a:xfrm>
            <a:off x="6979444" y="3821906"/>
            <a:ext cx="15000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E50914"/>
                </a:solidFill>
              </a:rPr>
              <a:t>INTERPRETABLE BASELINE</a:t>
            </a:r>
            <a:endParaRPr sz="1100"/>
          </a:p>
        </p:txBody>
      </p:sp>
      <p:sp>
        <p:nvSpPr>
          <p:cNvPr id="645" name="Google Shape;645;p41"/>
          <p:cNvSpPr/>
          <p:nvPr/>
        </p:nvSpPr>
        <p:spPr>
          <a:xfrm>
            <a:off x="6979444" y="4014788"/>
            <a:ext cx="1357200" cy="43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72033"/>
                </a:solidFill>
              </a:rPr>
              <a:t>Used to benchmark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72033"/>
                </a:solidFill>
              </a:rPr>
              <a:t>the final Random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72033"/>
                </a:solidFill>
              </a:rPr>
              <a:t>Forest model.</a:t>
            </a:r>
            <a:endParaRPr sz="1100"/>
          </a:p>
        </p:txBody>
      </p:sp>
      <p:sp>
        <p:nvSpPr>
          <p:cNvPr id="646" name="Google Shape;646;p41"/>
          <p:cNvSpPr/>
          <p:nvPr/>
        </p:nvSpPr>
        <p:spPr>
          <a:xfrm>
            <a:off x="528638" y="4707731"/>
            <a:ext cx="8086800" cy="14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41"/>
          <p:cNvSpPr/>
          <p:nvPr/>
        </p:nvSpPr>
        <p:spPr>
          <a:xfrm>
            <a:off x="528638" y="4786313"/>
            <a:ext cx="48576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Next: compare this baseline with Random Forest performance.</a:t>
            </a:r>
            <a:endParaRPr sz="1100"/>
          </a:p>
        </p:txBody>
      </p:sp>
      <p:sp>
        <p:nvSpPr>
          <p:cNvPr id="648" name="Google Shape;648;p41"/>
          <p:cNvSpPr/>
          <p:nvPr/>
        </p:nvSpPr>
        <p:spPr>
          <a:xfrm>
            <a:off x="528638" y="4972050"/>
            <a:ext cx="27861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00">
                <a:solidFill>
                  <a:srgbClr val="8290A5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649" name="Google Shape;649;p41"/>
          <p:cNvSpPr/>
          <p:nvPr/>
        </p:nvSpPr>
        <p:spPr>
          <a:xfrm>
            <a:off x="8422471" y="4964900"/>
            <a:ext cx="3243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8290A5"/>
                </a:solidFill>
              </a:rPr>
              <a:t>20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42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42"/>
          <p:cNvSpPr/>
          <p:nvPr/>
        </p:nvSpPr>
        <p:spPr>
          <a:xfrm>
            <a:off x="528638" y="378619"/>
            <a:ext cx="657300" cy="429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2"/>
          <p:cNvSpPr/>
          <p:nvPr/>
        </p:nvSpPr>
        <p:spPr>
          <a:xfrm>
            <a:off x="528638" y="600075"/>
            <a:ext cx="3929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PREDICTIVE ANALYTICS  |  MODEL COMPARISON</a:t>
            </a:r>
            <a:endParaRPr sz="1100"/>
          </a:p>
        </p:txBody>
      </p:sp>
      <p:sp>
        <p:nvSpPr>
          <p:cNvPr id="658" name="Google Shape;658;p42"/>
          <p:cNvSpPr/>
          <p:nvPr/>
        </p:nvSpPr>
        <p:spPr>
          <a:xfrm>
            <a:off x="528638" y="850106"/>
            <a:ext cx="51435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72033"/>
                </a:solidFill>
              </a:rPr>
              <a:t>Random Forest is the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172033"/>
                </a:solidFill>
              </a:rPr>
              <a:t>preferred churn model</a:t>
            </a:r>
            <a:endParaRPr sz="1100"/>
          </a:p>
        </p:txBody>
      </p:sp>
      <p:sp>
        <p:nvSpPr>
          <p:cNvPr id="659" name="Google Shape;659;p42"/>
          <p:cNvSpPr/>
          <p:nvPr/>
        </p:nvSpPr>
        <p:spPr>
          <a:xfrm>
            <a:off x="528638" y="1671638"/>
            <a:ext cx="50007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26174"/>
                </a:solidFill>
              </a:rPr>
              <a:t>Its ability to capture complex, non-linear behavior improves performance across every test-set metric.</a:t>
            </a:r>
            <a:endParaRPr sz="1100"/>
          </a:p>
        </p:txBody>
      </p:sp>
      <p:sp>
        <p:nvSpPr>
          <p:cNvPr id="660" name="Google Shape;660;p42"/>
          <p:cNvSpPr/>
          <p:nvPr/>
        </p:nvSpPr>
        <p:spPr>
          <a:xfrm>
            <a:off x="6365081" y="528638"/>
            <a:ext cx="2250300" cy="1157400"/>
          </a:xfrm>
          <a:prstGeom prst="roundRect">
            <a:avLst>
              <a:gd fmla="val 9877" name="adj"/>
            </a:avLst>
          </a:prstGeom>
          <a:solidFill>
            <a:srgbClr val="E8F5F0"/>
          </a:solidFill>
          <a:ln cap="flat" cmpd="sng" w="7150">
            <a:solidFill>
              <a:srgbClr val="BBDD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42"/>
          <p:cNvSpPr/>
          <p:nvPr/>
        </p:nvSpPr>
        <p:spPr>
          <a:xfrm>
            <a:off x="6565106" y="671513"/>
            <a:ext cx="1571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2B7A62"/>
                </a:solidFill>
              </a:rPr>
              <a:t>MODEL SELECTION</a:t>
            </a:r>
            <a:endParaRPr sz="1100"/>
          </a:p>
        </p:txBody>
      </p:sp>
      <p:sp>
        <p:nvSpPr>
          <p:cNvPr id="662" name="Google Shape;662;p42"/>
          <p:cNvSpPr/>
          <p:nvPr/>
        </p:nvSpPr>
        <p:spPr>
          <a:xfrm>
            <a:off x="6565106" y="878681"/>
            <a:ext cx="1571700" cy="4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72033"/>
                </a:solidFill>
              </a:rPr>
              <a:t>Best on all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72033"/>
                </a:solidFill>
              </a:rPr>
              <a:t>5 metrics</a:t>
            </a:r>
            <a:endParaRPr sz="1100"/>
          </a:p>
        </p:txBody>
      </p:sp>
      <p:sp>
        <p:nvSpPr>
          <p:cNvPr id="663" name="Google Shape;663;p42"/>
          <p:cNvSpPr/>
          <p:nvPr/>
        </p:nvSpPr>
        <p:spPr>
          <a:xfrm>
            <a:off x="6565106" y="1385888"/>
            <a:ext cx="17289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526174"/>
                </a:solidFill>
              </a:rPr>
              <a:t>Chosen for churn-risk scoring</a:t>
            </a:r>
            <a:endParaRPr sz="1100"/>
          </a:p>
        </p:txBody>
      </p:sp>
      <p:sp>
        <p:nvSpPr>
          <p:cNvPr id="664" name="Google Shape;664;p42"/>
          <p:cNvSpPr/>
          <p:nvPr/>
        </p:nvSpPr>
        <p:spPr>
          <a:xfrm>
            <a:off x="6365081" y="1864519"/>
            <a:ext cx="2250300" cy="893100"/>
          </a:xfrm>
          <a:prstGeom prst="roundRect">
            <a:avLst>
              <a:gd fmla="val 12800" name="adj"/>
            </a:avLst>
          </a:prstGeom>
          <a:solidFill>
            <a:srgbClr val="FFFFFF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42"/>
          <p:cNvSpPr/>
          <p:nvPr/>
        </p:nvSpPr>
        <p:spPr>
          <a:xfrm>
            <a:off x="6565106" y="2000250"/>
            <a:ext cx="9288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72033"/>
                </a:solidFill>
              </a:rPr>
              <a:t>0.999</a:t>
            </a:r>
            <a:endParaRPr sz="1100"/>
          </a:p>
        </p:txBody>
      </p:sp>
      <p:sp>
        <p:nvSpPr>
          <p:cNvPr id="666" name="Google Shape;666;p42"/>
          <p:cNvSpPr/>
          <p:nvPr/>
        </p:nvSpPr>
        <p:spPr>
          <a:xfrm>
            <a:off x="6565106" y="2264569"/>
            <a:ext cx="8574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26174"/>
                </a:solidFill>
              </a:rPr>
              <a:t>ROC–AUC</a:t>
            </a:r>
            <a:endParaRPr sz="1100"/>
          </a:p>
        </p:txBody>
      </p:sp>
      <p:sp>
        <p:nvSpPr>
          <p:cNvPr id="667" name="Google Shape;667;p42"/>
          <p:cNvSpPr/>
          <p:nvPr/>
        </p:nvSpPr>
        <p:spPr>
          <a:xfrm>
            <a:off x="7643813" y="2000250"/>
            <a:ext cx="7860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72033"/>
                </a:solidFill>
              </a:rPr>
              <a:t>98.5%</a:t>
            </a:r>
            <a:endParaRPr sz="1100"/>
          </a:p>
        </p:txBody>
      </p:sp>
      <p:sp>
        <p:nvSpPr>
          <p:cNvPr id="668" name="Google Shape;668;p42"/>
          <p:cNvSpPr/>
          <p:nvPr/>
        </p:nvSpPr>
        <p:spPr>
          <a:xfrm>
            <a:off x="7643813" y="2264569"/>
            <a:ext cx="7860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526174"/>
                </a:solidFill>
              </a:rPr>
              <a:t>Accuracy</a:t>
            </a:r>
            <a:endParaRPr sz="1100"/>
          </a:p>
        </p:txBody>
      </p:sp>
      <p:sp>
        <p:nvSpPr>
          <p:cNvPr id="669" name="Google Shape;669;p42"/>
          <p:cNvSpPr/>
          <p:nvPr/>
        </p:nvSpPr>
        <p:spPr>
          <a:xfrm>
            <a:off x="6365081" y="2928938"/>
            <a:ext cx="2250300" cy="1050000"/>
          </a:xfrm>
          <a:prstGeom prst="roundRect">
            <a:avLst>
              <a:gd fmla="val 10884" name="adj"/>
            </a:avLst>
          </a:prstGeom>
          <a:solidFill>
            <a:srgbClr val="EAF1F8"/>
          </a:solidFill>
          <a:ln cap="flat" cmpd="sng" w="7150">
            <a:solidFill>
              <a:srgbClr val="C9D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42"/>
          <p:cNvSpPr/>
          <p:nvPr/>
        </p:nvSpPr>
        <p:spPr>
          <a:xfrm>
            <a:off x="6565106" y="3078956"/>
            <a:ext cx="12858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E50914"/>
                </a:solidFill>
              </a:rPr>
              <a:t>+9.1 PTS</a:t>
            </a:r>
            <a:endParaRPr sz="1100"/>
          </a:p>
        </p:txBody>
      </p:sp>
      <p:sp>
        <p:nvSpPr>
          <p:cNvPr id="671" name="Google Shape;671;p42"/>
          <p:cNvSpPr/>
          <p:nvPr/>
        </p:nvSpPr>
        <p:spPr>
          <a:xfrm>
            <a:off x="6565106" y="3328988"/>
            <a:ext cx="12858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higher accuracy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than logistic</a:t>
            </a:r>
            <a:endParaRPr sz="1100"/>
          </a:p>
        </p:txBody>
      </p:sp>
      <p:sp>
        <p:nvSpPr>
          <p:cNvPr id="672" name="Google Shape;672;p42"/>
          <p:cNvSpPr/>
          <p:nvPr/>
        </p:nvSpPr>
        <p:spPr>
          <a:xfrm>
            <a:off x="7879556" y="3350419"/>
            <a:ext cx="5859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526174"/>
                </a:solidFill>
              </a:rPr>
              <a:t>0.985 vs. 0.894</a:t>
            </a:r>
            <a:endParaRPr sz="1100"/>
          </a:p>
        </p:txBody>
      </p:sp>
      <p:sp>
        <p:nvSpPr>
          <p:cNvPr id="673" name="Google Shape;673;p42"/>
          <p:cNvSpPr/>
          <p:nvPr/>
        </p:nvSpPr>
        <p:spPr>
          <a:xfrm>
            <a:off x="528638" y="2271713"/>
            <a:ext cx="5407800" cy="2186100"/>
          </a:xfrm>
          <a:prstGeom prst="roundRect">
            <a:avLst>
              <a:gd fmla="val 5229" name="adj"/>
            </a:avLst>
          </a:prstGeom>
          <a:solidFill>
            <a:srgbClr val="FFFFFF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42"/>
          <p:cNvSpPr/>
          <p:nvPr/>
        </p:nvSpPr>
        <p:spPr>
          <a:xfrm>
            <a:off x="700088" y="2300419"/>
            <a:ext cx="18573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TEST-SET SCORECARD</a:t>
            </a:r>
            <a:endParaRPr sz="1100"/>
          </a:p>
        </p:txBody>
      </p:sp>
      <p:sp>
        <p:nvSpPr>
          <p:cNvPr id="675" name="Google Shape;675;p42"/>
          <p:cNvSpPr/>
          <p:nvPr/>
        </p:nvSpPr>
        <p:spPr>
          <a:xfrm>
            <a:off x="700088" y="2464638"/>
            <a:ext cx="27147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26174"/>
                </a:solidFill>
              </a:rPr>
              <a:t>Side-by-side performance comparison</a:t>
            </a:r>
            <a:endParaRPr sz="1100"/>
          </a:p>
        </p:txBody>
      </p:sp>
      <p:pic>
        <p:nvPicPr>
          <p:cNvPr id="676" name="Google Shape;676;p42"/>
          <p:cNvPicPr preferRelativeResize="0"/>
          <p:nvPr/>
        </p:nvPicPr>
        <p:blipFill rotWithShape="1">
          <a:blip r:embed="rId3">
            <a:alphaModFix/>
          </a:blip>
          <a:srcRect b="17342" l="0" r="0" t="17342"/>
          <a:stretch/>
        </p:blipFill>
        <p:spPr>
          <a:xfrm>
            <a:off x="753123" y="2607450"/>
            <a:ext cx="4647876" cy="1702774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42"/>
          <p:cNvSpPr/>
          <p:nvPr/>
        </p:nvSpPr>
        <p:spPr>
          <a:xfrm>
            <a:off x="528638" y="4650581"/>
            <a:ext cx="8086800" cy="14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42"/>
          <p:cNvSpPr/>
          <p:nvPr/>
        </p:nvSpPr>
        <p:spPr>
          <a:xfrm>
            <a:off x="528638" y="4743450"/>
            <a:ext cx="67152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Takeaway: Random Forest provides the strongest foundation for prioritizing retention outreach.</a:t>
            </a:r>
            <a:endParaRPr sz="1100"/>
          </a:p>
        </p:txBody>
      </p:sp>
      <p:sp>
        <p:nvSpPr>
          <p:cNvPr id="679" name="Google Shape;679;p42"/>
          <p:cNvSpPr/>
          <p:nvPr/>
        </p:nvSpPr>
        <p:spPr>
          <a:xfrm>
            <a:off x="528638" y="4964906"/>
            <a:ext cx="2786100" cy="1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00">
                <a:solidFill>
                  <a:srgbClr val="8290A5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680" name="Google Shape;680;p42"/>
          <p:cNvSpPr/>
          <p:nvPr/>
        </p:nvSpPr>
        <p:spPr>
          <a:xfrm>
            <a:off x="8422470" y="4957768"/>
            <a:ext cx="354000" cy="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8290A5"/>
                </a:solidFill>
              </a:rPr>
              <a:t>21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3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43"/>
          <p:cNvSpPr/>
          <p:nvPr/>
        </p:nvSpPr>
        <p:spPr>
          <a:xfrm>
            <a:off x="528638" y="371475"/>
            <a:ext cx="628800" cy="429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3"/>
          <p:cNvSpPr/>
          <p:nvPr/>
        </p:nvSpPr>
        <p:spPr>
          <a:xfrm>
            <a:off x="528638" y="585788"/>
            <a:ext cx="3214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PREDICTIVE ANALYTICS  |  FINAL MODEL</a:t>
            </a:r>
            <a:endParaRPr sz="1100"/>
          </a:p>
        </p:txBody>
      </p:sp>
      <p:sp>
        <p:nvSpPr>
          <p:cNvPr id="689" name="Google Shape;689;p43"/>
          <p:cNvSpPr/>
          <p:nvPr/>
        </p:nvSpPr>
        <p:spPr>
          <a:xfrm>
            <a:off x="528638" y="835819"/>
            <a:ext cx="42150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Random Forest becomes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the final churn model</a:t>
            </a:r>
            <a:endParaRPr sz="1100"/>
          </a:p>
        </p:txBody>
      </p:sp>
      <p:sp>
        <p:nvSpPr>
          <p:cNvPr id="690" name="Google Shape;690;p43"/>
          <p:cNvSpPr/>
          <p:nvPr/>
        </p:nvSpPr>
        <p:spPr>
          <a:xfrm>
            <a:off x="528638" y="1521619"/>
            <a:ext cx="4500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26174"/>
                </a:solidFill>
              </a:rPr>
              <a:t>It outperformed logistic regression across every evaluation measure and captures the behavior patterns that matter most for churn.</a:t>
            </a:r>
            <a:endParaRPr sz="1100"/>
          </a:p>
        </p:txBody>
      </p:sp>
      <p:sp>
        <p:nvSpPr>
          <p:cNvPr id="691" name="Google Shape;691;p43"/>
          <p:cNvSpPr/>
          <p:nvPr/>
        </p:nvSpPr>
        <p:spPr>
          <a:xfrm>
            <a:off x="528638" y="2100263"/>
            <a:ext cx="5329500" cy="2357700"/>
          </a:xfrm>
          <a:prstGeom prst="roundRect">
            <a:avLst>
              <a:gd fmla="val 4848" name="adj"/>
            </a:avLst>
          </a:prstGeom>
          <a:solidFill>
            <a:srgbClr val="FFFFFF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43"/>
          <p:cNvSpPr/>
          <p:nvPr/>
        </p:nvSpPr>
        <p:spPr>
          <a:xfrm>
            <a:off x="700088" y="2250281"/>
            <a:ext cx="18573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WHAT THE MODEL LEARNED</a:t>
            </a:r>
            <a:endParaRPr sz="1100"/>
          </a:p>
        </p:txBody>
      </p:sp>
      <p:sp>
        <p:nvSpPr>
          <p:cNvPr id="693" name="Google Shape;693;p43"/>
          <p:cNvSpPr/>
          <p:nvPr/>
        </p:nvSpPr>
        <p:spPr>
          <a:xfrm>
            <a:off x="700088" y="2414588"/>
            <a:ext cx="42864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26174"/>
                </a:solidFill>
              </a:rPr>
              <a:t>Feature importance ranks the behaviors most useful for predicting churn</a:t>
            </a:r>
            <a:endParaRPr sz="1100"/>
          </a:p>
        </p:txBody>
      </p:sp>
      <p:pic>
        <p:nvPicPr>
          <p:cNvPr id="694" name="Google Shape;69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3207" y="2607469"/>
            <a:ext cx="3220100" cy="1700213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43"/>
          <p:cNvSpPr/>
          <p:nvPr/>
        </p:nvSpPr>
        <p:spPr>
          <a:xfrm>
            <a:off x="6072188" y="585788"/>
            <a:ext cx="2543100" cy="1314600"/>
          </a:xfrm>
          <a:prstGeom prst="roundRect">
            <a:avLst>
              <a:gd fmla="val 8696" name="adj"/>
            </a:avLst>
          </a:prstGeom>
          <a:solidFill>
            <a:srgbClr val="E8F5F0"/>
          </a:solidFill>
          <a:ln cap="flat" cmpd="sng" w="7150">
            <a:solidFill>
              <a:srgbClr val="BBDD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43"/>
          <p:cNvSpPr/>
          <p:nvPr/>
        </p:nvSpPr>
        <p:spPr>
          <a:xfrm>
            <a:off x="6272213" y="750094"/>
            <a:ext cx="1428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2B7A62"/>
                </a:solidFill>
              </a:rPr>
              <a:t>SELECTED MODEL</a:t>
            </a:r>
            <a:endParaRPr sz="1100"/>
          </a:p>
        </p:txBody>
      </p:sp>
      <p:sp>
        <p:nvSpPr>
          <p:cNvPr id="697" name="Google Shape;697;p43"/>
          <p:cNvSpPr/>
          <p:nvPr/>
        </p:nvSpPr>
        <p:spPr>
          <a:xfrm>
            <a:off x="6272213" y="950119"/>
            <a:ext cx="1357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172033"/>
                </a:solidFill>
              </a:rPr>
              <a:t>Random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172033"/>
                </a:solidFill>
              </a:rPr>
              <a:t>Forest</a:t>
            </a:r>
            <a:endParaRPr sz="1100"/>
          </a:p>
        </p:txBody>
      </p:sp>
      <p:sp>
        <p:nvSpPr>
          <p:cNvPr id="698" name="Google Shape;698;p43"/>
          <p:cNvSpPr/>
          <p:nvPr/>
        </p:nvSpPr>
        <p:spPr>
          <a:xfrm>
            <a:off x="6272213" y="1500188"/>
            <a:ext cx="20001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26174"/>
                </a:solidFill>
              </a:rPr>
              <a:t>Best model across all test-set metrics</a:t>
            </a:r>
            <a:endParaRPr sz="1100"/>
          </a:p>
        </p:txBody>
      </p:sp>
      <p:sp>
        <p:nvSpPr>
          <p:cNvPr id="699" name="Google Shape;699;p43"/>
          <p:cNvSpPr/>
          <p:nvPr/>
        </p:nvSpPr>
        <p:spPr>
          <a:xfrm>
            <a:off x="6072188" y="2100263"/>
            <a:ext cx="2543100" cy="1071600"/>
          </a:xfrm>
          <a:prstGeom prst="roundRect">
            <a:avLst>
              <a:gd fmla="val 10667" name="adj"/>
            </a:avLst>
          </a:prstGeom>
          <a:solidFill>
            <a:srgbClr val="EAF1F8"/>
          </a:solidFill>
          <a:ln cap="flat" cmpd="sng" w="7150">
            <a:solidFill>
              <a:srgbClr val="C9D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43"/>
          <p:cNvSpPr/>
          <p:nvPr/>
        </p:nvSpPr>
        <p:spPr>
          <a:xfrm>
            <a:off x="6272213" y="2264569"/>
            <a:ext cx="11430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72033"/>
                </a:solidFill>
              </a:rPr>
              <a:t>98.2%</a:t>
            </a:r>
            <a:endParaRPr sz="1100"/>
          </a:p>
        </p:txBody>
      </p:sp>
      <p:sp>
        <p:nvSpPr>
          <p:cNvPr id="701" name="Google Shape;701;p43"/>
          <p:cNvSpPr/>
          <p:nvPr/>
        </p:nvSpPr>
        <p:spPr>
          <a:xfrm>
            <a:off x="6272213" y="2557463"/>
            <a:ext cx="7143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RECALL</a:t>
            </a:r>
            <a:endParaRPr sz="1100"/>
          </a:p>
        </p:txBody>
      </p:sp>
      <p:sp>
        <p:nvSpPr>
          <p:cNvPr id="702" name="Google Shape;702;p43"/>
          <p:cNvSpPr/>
          <p:nvPr/>
        </p:nvSpPr>
        <p:spPr>
          <a:xfrm>
            <a:off x="6272213" y="2743200"/>
            <a:ext cx="17502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Identified most customers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who actually churned.</a:t>
            </a:r>
            <a:endParaRPr sz="1100"/>
          </a:p>
        </p:txBody>
      </p:sp>
      <p:sp>
        <p:nvSpPr>
          <p:cNvPr id="703" name="Google Shape;703;p43"/>
          <p:cNvSpPr/>
          <p:nvPr/>
        </p:nvSpPr>
        <p:spPr>
          <a:xfrm>
            <a:off x="6072188" y="3350419"/>
            <a:ext cx="2543100" cy="1107300"/>
          </a:xfrm>
          <a:prstGeom prst="roundRect">
            <a:avLst>
              <a:gd fmla="val 10323" name="adj"/>
            </a:avLst>
          </a:prstGeom>
          <a:solidFill>
            <a:srgbClr val="FFFFFF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43"/>
          <p:cNvSpPr/>
          <p:nvPr/>
        </p:nvSpPr>
        <p:spPr>
          <a:xfrm>
            <a:off x="6272213" y="3507581"/>
            <a:ext cx="15717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TOP CHURN SIGNALS</a:t>
            </a:r>
            <a:endParaRPr sz="1100"/>
          </a:p>
        </p:txBody>
      </p:sp>
      <p:sp>
        <p:nvSpPr>
          <p:cNvPr id="705" name="Google Shape;705;p43"/>
          <p:cNvSpPr/>
          <p:nvPr/>
        </p:nvSpPr>
        <p:spPr>
          <a:xfrm>
            <a:off x="6272213" y="3707606"/>
            <a:ext cx="19644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1. Average watch time per day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2. Days since last login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3. Total watch hours</a:t>
            </a:r>
            <a:endParaRPr sz="1100"/>
          </a:p>
        </p:txBody>
      </p:sp>
      <p:sp>
        <p:nvSpPr>
          <p:cNvPr id="706" name="Google Shape;706;p43"/>
          <p:cNvSpPr/>
          <p:nvPr/>
        </p:nvSpPr>
        <p:spPr>
          <a:xfrm>
            <a:off x="528638" y="4650581"/>
            <a:ext cx="8086800" cy="14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43"/>
          <p:cNvSpPr/>
          <p:nvPr/>
        </p:nvSpPr>
        <p:spPr>
          <a:xfrm>
            <a:off x="528638" y="4736306"/>
            <a:ext cx="62865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Takeaway: Churn risk is driven primarily by engagement and recency signals.</a:t>
            </a:r>
            <a:endParaRPr sz="1100"/>
          </a:p>
        </p:txBody>
      </p:sp>
      <p:sp>
        <p:nvSpPr>
          <p:cNvPr id="708" name="Google Shape;708;p43"/>
          <p:cNvSpPr/>
          <p:nvPr/>
        </p:nvSpPr>
        <p:spPr>
          <a:xfrm>
            <a:off x="528638" y="4964906"/>
            <a:ext cx="27861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00">
                <a:solidFill>
                  <a:srgbClr val="8290A5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709" name="Google Shape;709;p43"/>
          <p:cNvSpPr/>
          <p:nvPr/>
        </p:nvSpPr>
        <p:spPr>
          <a:xfrm>
            <a:off x="8236619" y="5015068"/>
            <a:ext cx="378600" cy="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8290A5"/>
                </a:solidFill>
              </a:rPr>
              <a:t>22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44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44"/>
          <p:cNvSpPr/>
          <p:nvPr/>
        </p:nvSpPr>
        <p:spPr>
          <a:xfrm>
            <a:off x="528638" y="371475"/>
            <a:ext cx="628800" cy="429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44"/>
          <p:cNvSpPr/>
          <p:nvPr/>
        </p:nvSpPr>
        <p:spPr>
          <a:xfrm>
            <a:off x="528638" y="585788"/>
            <a:ext cx="3357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PREDICTIVE ANALYTICS  |  RISK SCORING</a:t>
            </a:r>
            <a:endParaRPr sz="1100"/>
          </a:p>
        </p:txBody>
      </p:sp>
      <p:sp>
        <p:nvSpPr>
          <p:cNvPr id="718" name="Google Shape;718;p44"/>
          <p:cNvSpPr/>
          <p:nvPr/>
        </p:nvSpPr>
        <p:spPr>
          <a:xfrm>
            <a:off x="528638" y="842963"/>
            <a:ext cx="40722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From model output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to customer action</a:t>
            </a:r>
            <a:endParaRPr sz="1100"/>
          </a:p>
        </p:txBody>
      </p:sp>
      <p:sp>
        <p:nvSpPr>
          <p:cNvPr id="719" name="Google Shape;719;p44"/>
          <p:cNvSpPr/>
          <p:nvPr/>
        </p:nvSpPr>
        <p:spPr>
          <a:xfrm>
            <a:off x="528638" y="1528763"/>
            <a:ext cx="4643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26174"/>
                </a:solidFill>
              </a:rPr>
              <a:t>The selected Random Forest model assigns each subscriber a churn probability and turns that score into an actionable risk segment.</a:t>
            </a:r>
            <a:endParaRPr sz="1100"/>
          </a:p>
        </p:txBody>
      </p:sp>
      <p:sp>
        <p:nvSpPr>
          <p:cNvPr id="720" name="Google Shape;720;p44"/>
          <p:cNvSpPr/>
          <p:nvPr/>
        </p:nvSpPr>
        <p:spPr>
          <a:xfrm>
            <a:off x="528638" y="2143125"/>
            <a:ext cx="5686500" cy="2100300"/>
          </a:xfrm>
          <a:prstGeom prst="roundRect">
            <a:avLst>
              <a:gd fmla="val 5442" name="adj"/>
            </a:avLst>
          </a:prstGeom>
          <a:solidFill>
            <a:srgbClr val="FFFFFF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44"/>
          <p:cNvSpPr/>
          <p:nvPr/>
        </p:nvSpPr>
        <p:spPr>
          <a:xfrm>
            <a:off x="700088" y="2286000"/>
            <a:ext cx="23577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FINAL CHURN-RISK SEGMENTATION</a:t>
            </a:r>
            <a:endParaRPr sz="1100"/>
          </a:p>
        </p:txBody>
      </p:sp>
      <p:pic>
        <p:nvPicPr>
          <p:cNvPr id="722" name="Google Shape;722;p44"/>
          <p:cNvPicPr preferRelativeResize="0"/>
          <p:nvPr/>
        </p:nvPicPr>
        <p:blipFill rotWithShape="1">
          <a:blip r:embed="rId3">
            <a:alphaModFix/>
          </a:blip>
          <a:srcRect b="27511" l="0" r="0" t="27515"/>
          <a:stretch/>
        </p:blipFill>
        <p:spPr>
          <a:xfrm>
            <a:off x="721519" y="2521744"/>
            <a:ext cx="5300665" cy="1364456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44"/>
          <p:cNvSpPr/>
          <p:nvPr/>
        </p:nvSpPr>
        <p:spPr>
          <a:xfrm>
            <a:off x="6429375" y="585788"/>
            <a:ext cx="2186100" cy="1057200"/>
          </a:xfrm>
          <a:prstGeom prst="roundRect">
            <a:avLst>
              <a:gd fmla="val 10811" name="adj"/>
            </a:avLst>
          </a:prstGeom>
          <a:solidFill>
            <a:srgbClr val="E8F5F0"/>
          </a:solidFill>
          <a:ln cap="flat" cmpd="sng" w="7150">
            <a:solidFill>
              <a:srgbClr val="BBDD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44"/>
          <p:cNvSpPr/>
          <p:nvPr/>
        </p:nvSpPr>
        <p:spPr>
          <a:xfrm>
            <a:off x="6629400" y="757238"/>
            <a:ext cx="12144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2B7A62"/>
                </a:solidFill>
              </a:rPr>
              <a:t>LOW RISK</a:t>
            </a:r>
            <a:endParaRPr sz="1100"/>
          </a:p>
        </p:txBody>
      </p:sp>
      <p:sp>
        <p:nvSpPr>
          <p:cNvPr id="725" name="Google Shape;725;p44"/>
          <p:cNvSpPr/>
          <p:nvPr/>
        </p:nvSpPr>
        <p:spPr>
          <a:xfrm>
            <a:off x="6629400" y="942975"/>
            <a:ext cx="10716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72033"/>
                </a:solidFill>
              </a:rPr>
              <a:t>2,397</a:t>
            </a:r>
            <a:endParaRPr sz="1100"/>
          </a:p>
        </p:txBody>
      </p:sp>
      <p:sp>
        <p:nvSpPr>
          <p:cNvPr id="726" name="Google Shape;726;p44"/>
          <p:cNvSpPr/>
          <p:nvPr/>
        </p:nvSpPr>
        <p:spPr>
          <a:xfrm>
            <a:off x="6629400" y="1250156"/>
            <a:ext cx="17574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526174"/>
                </a:solidFill>
              </a:rPr>
              <a:t>5.25% average churn probability</a:t>
            </a:r>
            <a:endParaRPr sz="1100"/>
          </a:p>
        </p:txBody>
      </p:sp>
      <p:sp>
        <p:nvSpPr>
          <p:cNvPr id="727" name="Google Shape;727;p44"/>
          <p:cNvSpPr/>
          <p:nvPr/>
        </p:nvSpPr>
        <p:spPr>
          <a:xfrm>
            <a:off x="6429375" y="1800225"/>
            <a:ext cx="2186100" cy="942900"/>
          </a:xfrm>
          <a:prstGeom prst="roundRect">
            <a:avLst>
              <a:gd fmla="val 12121" name="adj"/>
            </a:avLst>
          </a:prstGeom>
          <a:solidFill>
            <a:srgbClr val="EAF1F8"/>
          </a:solidFill>
          <a:ln cap="flat" cmpd="sng" w="7150">
            <a:solidFill>
              <a:srgbClr val="C9D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44"/>
          <p:cNvSpPr/>
          <p:nvPr/>
        </p:nvSpPr>
        <p:spPr>
          <a:xfrm>
            <a:off x="6629400" y="1950244"/>
            <a:ext cx="12144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172033"/>
                </a:solidFill>
              </a:rPr>
              <a:t>MEDIUM RISK</a:t>
            </a:r>
            <a:endParaRPr sz="1100"/>
          </a:p>
        </p:txBody>
      </p:sp>
      <p:sp>
        <p:nvSpPr>
          <p:cNvPr id="729" name="Google Shape;729;p44"/>
          <p:cNvSpPr/>
          <p:nvPr/>
        </p:nvSpPr>
        <p:spPr>
          <a:xfrm>
            <a:off x="6629400" y="2128838"/>
            <a:ext cx="1571700" cy="2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2033"/>
                </a:solidFill>
              </a:rPr>
              <a:t>123 customers</a:t>
            </a:r>
            <a:endParaRPr sz="1100"/>
          </a:p>
        </p:txBody>
      </p:sp>
      <p:sp>
        <p:nvSpPr>
          <p:cNvPr id="730" name="Google Shape;730;p44"/>
          <p:cNvSpPr/>
          <p:nvPr/>
        </p:nvSpPr>
        <p:spPr>
          <a:xfrm>
            <a:off x="6629400" y="2400300"/>
            <a:ext cx="17859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526174"/>
                </a:solidFill>
              </a:rPr>
              <a:t>41.43% average churn probability</a:t>
            </a:r>
            <a:endParaRPr sz="1100"/>
          </a:p>
        </p:txBody>
      </p:sp>
      <p:sp>
        <p:nvSpPr>
          <p:cNvPr id="731" name="Google Shape;731;p44"/>
          <p:cNvSpPr/>
          <p:nvPr/>
        </p:nvSpPr>
        <p:spPr>
          <a:xfrm>
            <a:off x="6429375" y="2900363"/>
            <a:ext cx="2186100" cy="1343100"/>
          </a:xfrm>
          <a:prstGeom prst="roundRect">
            <a:avLst>
              <a:gd fmla="val 8511" name="adj"/>
            </a:avLst>
          </a:prstGeom>
          <a:solidFill>
            <a:srgbClr val="FBE5E7"/>
          </a:solidFill>
          <a:ln cap="flat" cmpd="sng" w="7150">
            <a:solidFill>
              <a:srgbClr val="F2C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44"/>
          <p:cNvSpPr/>
          <p:nvPr/>
        </p:nvSpPr>
        <p:spPr>
          <a:xfrm>
            <a:off x="6629400" y="3057525"/>
            <a:ext cx="12144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HIGH RISK</a:t>
            </a:r>
            <a:endParaRPr sz="1100"/>
          </a:p>
        </p:txBody>
      </p:sp>
      <p:sp>
        <p:nvSpPr>
          <p:cNvPr id="733" name="Google Shape;733;p44"/>
          <p:cNvSpPr/>
          <p:nvPr/>
        </p:nvSpPr>
        <p:spPr>
          <a:xfrm>
            <a:off x="6629400" y="3243263"/>
            <a:ext cx="11430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72033"/>
                </a:solidFill>
              </a:rPr>
              <a:t>2,470</a:t>
            </a:r>
            <a:endParaRPr sz="1100"/>
          </a:p>
        </p:txBody>
      </p:sp>
      <p:sp>
        <p:nvSpPr>
          <p:cNvPr id="734" name="Google Shape;734;p44"/>
          <p:cNvSpPr/>
          <p:nvPr/>
        </p:nvSpPr>
        <p:spPr>
          <a:xfrm>
            <a:off x="6629400" y="3543300"/>
            <a:ext cx="17859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800">
                <a:solidFill>
                  <a:srgbClr val="526174"/>
                </a:solidFill>
              </a:rPr>
              <a:t>94.72% average churn probability</a:t>
            </a:r>
            <a:endParaRPr sz="1100"/>
          </a:p>
        </p:txBody>
      </p:sp>
      <p:sp>
        <p:nvSpPr>
          <p:cNvPr id="735" name="Google Shape;735;p44"/>
          <p:cNvSpPr/>
          <p:nvPr/>
        </p:nvSpPr>
        <p:spPr>
          <a:xfrm>
            <a:off x="6629400" y="3814763"/>
            <a:ext cx="1643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72033"/>
                </a:solidFill>
              </a:rPr>
              <a:t>Priority audience for retention action</a:t>
            </a:r>
            <a:endParaRPr sz="1100"/>
          </a:p>
        </p:txBody>
      </p:sp>
      <p:sp>
        <p:nvSpPr>
          <p:cNvPr id="736" name="Google Shape;736;p44"/>
          <p:cNvSpPr/>
          <p:nvPr/>
        </p:nvSpPr>
        <p:spPr>
          <a:xfrm>
            <a:off x="528638" y="4436269"/>
            <a:ext cx="8086800" cy="14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44"/>
          <p:cNvSpPr/>
          <p:nvPr/>
        </p:nvSpPr>
        <p:spPr>
          <a:xfrm>
            <a:off x="528638" y="4536281"/>
            <a:ext cx="68580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Next: use these scores to target retention, upgrade, and acquisition recommendations.</a:t>
            </a:r>
            <a:endParaRPr sz="1100"/>
          </a:p>
        </p:txBody>
      </p:sp>
      <p:sp>
        <p:nvSpPr>
          <p:cNvPr id="738" name="Google Shape;738;p44"/>
          <p:cNvSpPr/>
          <p:nvPr/>
        </p:nvSpPr>
        <p:spPr>
          <a:xfrm>
            <a:off x="528638" y="4964906"/>
            <a:ext cx="27861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00">
                <a:solidFill>
                  <a:srgbClr val="8290A5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739" name="Google Shape;739;p44"/>
          <p:cNvSpPr/>
          <p:nvPr/>
        </p:nvSpPr>
        <p:spPr>
          <a:xfrm>
            <a:off x="8201101" y="4957775"/>
            <a:ext cx="4143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8290A5"/>
                </a:solidFill>
              </a:rPr>
              <a:t>23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45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45"/>
          <p:cNvSpPr/>
          <p:nvPr/>
        </p:nvSpPr>
        <p:spPr>
          <a:xfrm>
            <a:off x="0" y="85725"/>
            <a:ext cx="2800200" cy="5057700"/>
          </a:xfrm>
          <a:prstGeom prst="rect">
            <a:avLst/>
          </a:prstGeom>
          <a:solidFill>
            <a:srgbClr val="243A5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45"/>
          <p:cNvSpPr/>
          <p:nvPr/>
        </p:nvSpPr>
        <p:spPr>
          <a:xfrm>
            <a:off x="528638" y="478631"/>
            <a:ext cx="614400" cy="429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45"/>
          <p:cNvSpPr/>
          <p:nvPr/>
        </p:nvSpPr>
        <p:spPr>
          <a:xfrm>
            <a:off x="528638" y="685800"/>
            <a:ext cx="1893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D0D4"/>
                </a:solidFill>
              </a:rPr>
              <a:t>PRESCRIPTIVE ANALYTICS</a:t>
            </a:r>
            <a:endParaRPr sz="1100"/>
          </a:p>
        </p:txBody>
      </p:sp>
      <p:sp>
        <p:nvSpPr>
          <p:cNvPr id="749" name="Google Shape;749;p45"/>
          <p:cNvSpPr/>
          <p:nvPr/>
        </p:nvSpPr>
        <p:spPr>
          <a:xfrm>
            <a:off x="510788" y="1125106"/>
            <a:ext cx="19290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</a:rPr>
              <a:t>From insight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FFFFFF"/>
                </a:solidFill>
              </a:rPr>
              <a:t>to decision.</a:t>
            </a:r>
            <a:endParaRPr sz="1100"/>
          </a:p>
        </p:txBody>
      </p:sp>
      <p:sp>
        <p:nvSpPr>
          <p:cNvPr id="750" name="Google Shape;750;p45"/>
          <p:cNvSpPr/>
          <p:nvPr/>
        </p:nvSpPr>
        <p:spPr>
          <a:xfrm>
            <a:off x="546638" y="2053875"/>
            <a:ext cx="18573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D8E1EF"/>
                </a:solidFill>
              </a:rPr>
              <a:t>Prescriptive analytics answers the question:</a:t>
            </a:r>
            <a:endParaRPr sz="1100"/>
          </a:p>
        </p:txBody>
      </p:sp>
      <p:sp>
        <p:nvSpPr>
          <p:cNvPr id="751" name="Google Shape;751;p45"/>
          <p:cNvSpPr/>
          <p:nvPr/>
        </p:nvSpPr>
        <p:spPr>
          <a:xfrm>
            <a:off x="528638" y="2428875"/>
            <a:ext cx="1714500" cy="53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</a:rPr>
              <a:t>“What should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</a:rPr>
              <a:t>we do next?”</a:t>
            </a:r>
            <a:endParaRPr sz="1100"/>
          </a:p>
        </p:txBody>
      </p:sp>
      <p:sp>
        <p:nvSpPr>
          <p:cNvPr id="752" name="Google Shape;752;p45"/>
          <p:cNvSpPr/>
          <p:nvPr/>
        </p:nvSpPr>
        <p:spPr>
          <a:xfrm>
            <a:off x="528638" y="3600450"/>
            <a:ext cx="17859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D8E1EF"/>
                </a:solidFill>
              </a:rPr>
              <a:t>It closes the loop between analysis and business action.</a:t>
            </a:r>
            <a:endParaRPr sz="1100"/>
          </a:p>
        </p:txBody>
      </p:sp>
      <p:sp>
        <p:nvSpPr>
          <p:cNvPr id="753" name="Google Shape;753;p45"/>
          <p:cNvSpPr/>
          <p:nvPr/>
        </p:nvSpPr>
        <p:spPr>
          <a:xfrm>
            <a:off x="3243263" y="585788"/>
            <a:ext cx="48576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72033"/>
                </a:solidFill>
              </a:rPr>
              <a:t>A decision framework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172033"/>
                </a:solidFill>
              </a:rPr>
              <a:t>for acting on data</a:t>
            </a:r>
            <a:endParaRPr sz="1100"/>
          </a:p>
        </p:txBody>
      </p:sp>
      <p:sp>
        <p:nvSpPr>
          <p:cNvPr id="754" name="Google Shape;754;p45"/>
          <p:cNvSpPr/>
          <p:nvPr/>
        </p:nvSpPr>
        <p:spPr>
          <a:xfrm>
            <a:off x="3243263" y="1321594"/>
            <a:ext cx="47865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26174"/>
                </a:solidFill>
              </a:rPr>
              <a:t>Rather than stopping at predictions, this section translates evidence into deliberate, measurable choices.</a:t>
            </a:r>
            <a:endParaRPr sz="1100"/>
          </a:p>
        </p:txBody>
      </p:sp>
      <p:sp>
        <p:nvSpPr>
          <p:cNvPr id="755" name="Google Shape;755;p45"/>
          <p:cNvSpPr/>
          <p:nvPr/>
        </p:nvSpPr>
        <p:spPr>
          <a:xfrm>
            <a:off x="3243263" y="2035969"/>
            <a:ext cx="5029200" cy="600000"/>
          </a:xfrm>
          <a:prstGeom prst="roundRect">
            <a:avLst>
              <a:gd fmla="val 19048" name="adj"/>
            </a:avLst>
          </a:prstGeom>
          <a:solidFill>
            <a:srgbClr val="FFFFFF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45"/>
          <p:cNvSpPr/>
          <p:nvPr/>
        </p:nvSpPr>
        <p:spPr>
          <a:xfrm>
            <a:off x="3436144" y="2221706"/>
            <a:ext cx="200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50914"/>
                </a:solidFill>
              </a:rPr>
              <a:t>1</a:t>
            </a:r>
            <a:endParaRPr sz="1100"/>
          </a:p>
        </p:txBody>
      </p:sp>
      <p:sp>
        <p:nvSpPr>
          <p:cNvPr id="757" name="Google Shape;757;p45"/>
          <p:cNvSpPr/>
          <p:nvPr/>
        </p:nvSpPr>
        <p:spPr>
          <a:xfrm>
            <a:off x="3800475" y="2143125"/>
            <a:ext cx="13572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2033"/>
                </a:solidFill>
              </a:rPr>
              <a:t>Use evidence</a:t>
            </a:r>
            <a:endParaRPr sz="1100"/>
          </a:p>
        </p:txBody>
      </p:sp>
      <p:sp>
        <p:nvSpPr>
          <p:cNvPr id="758" name="Google Shape;758;p45"/>
          <p:cNvSpPr/>
          <p:nvPr/>
        </p:nvSpPr>
        <p:spPr>
          <a:xfrm>
            <a:off x="3800475" y="2357438"/>
            <a:ext cx="3286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26174"/>
                </a:solidFill>
              </a:rPr>
              <a:t>Start with the findings and model outputs already developed.</a:t>
            </a:r>
            <a:endParaRPr sz="1100"/>
          </a:p>
        </p:txBody>
      </p:sp>
      <p:sp>
        <p:nvSpPr>
          <p:cNvPr id="759" name="Google Shape;759;p45"/>
          <p:cNvSpPr/>
          <p:nvPr/>
        </p:nvSpPr>
        <p:spPr>
          <a:xfrm>
            <a:off x="3243263" y="2786063"/>
            <a:ext cx="5029200" cy="600000"/>
          </a:xfrm>
          <a:prstGeom prst="roundRect">
            <a:avLst>
              <a:gd fmla="val 19048" name="adj"/>
            </a:avLst>
          </a:prstGeom>
          <a:solidFill>
            <a:srgbClr val="EAF1F8"/>
          </a:solidFill>
          <a:ln cap="flat" cmpd="sng" w="7150">
            <a:solidFill>
              <a:srgbClr val="C9D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45"/>
          <p:cNvSpPr/>
          <p:nvPr/>
        </p:nvSpPr>
        <p:spPr>
          <a:xfrm>
            <a:off x="3436144" y="2971800"/>
            <a:ext cx="200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50914"/>
                </a:solidFill>
              </a:rPr>
              <a:t>2</a:t>
            </a:r>
            <a:endParaRPr sz="1100"/>
          </a:p>
        </p:txBody>
      </p:sp>
      <p:sp>
        <p:nvSpPr>
          <p:cNvPr id="761" name="Google Shape;761;p45"/>
          <p:cNvSpPr/>
          <p:nvPr/>
        </p:nvSpPr>
        <p:spPr>
          <a:xfrm>
            <a:off x="3814775" y="2839631"/>
            <a:ext cx="16431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2033"/>
                </a:solidFill>
              </a:rPr>
              <a:t>Choose an action</a:t>
            </a:r>
            <a:endParaRPr sz="1100"/>
          </a:p>
        </p:txBody>
      </p:sp>
      <p:sp>
        <p:nvSpPr>
          <p:cNvPr id="762" name="Google Shape;762;p45"/>
          <p:cNvSpPr/>
          <p:nvPr/>
        </p:nvSpPr>
        <p:spPr>
          <a:xfrm>
            <a:off x="3800475" y="3107531"/>
            <a:ext cx="3357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26174"/>
                </a:solidFill>
              </a:rPr>
              <a:t>Match the decision to the business objective and customer need.</a:t>
            </a:r>
            <a:endParaRPr sz="1100"/>
          </a:p>
        </p:txBody>
      </p:sp>
      <p:sp>
        <p:nvSpPr>
          <p:cNvPr id="763" name="Google Shape;763;p45"/>
          <p:cNvSpPr/>
          <p:nvPr/>
        </p:nvSpPr>
        <p:spPr>
          <a:xfrm>
            <a:off x="3243263" y="3536156"/>
            <a:ext cx="5029200" cy="600000"/>
          </a:xfrm>
          <a:prstGeom prst="roundRect">
            <a:avLst>
              <a:gd fmla="val 19048" name="adj"/>
            </a:avLst>
          </a:prstGeom>
          <a:solidFill>
            <a:srgbClr val="FFFFFF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45"/>
          <p:cNvSpPr/>
          <p:nvPr/>
        </p:nvSpPr>
        <p:spPr>
          <a:xfrm>
            <a:off x="3436144" y="3721894"/>
            <a:ext cx="200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50914"/>
                </a:solidFill>
              </a:rPr>
              <a:t>3</a:t>
            </a:r>
            <a:endParaRPr sz="1100"/>
          </a:p>
        </p:txBody>
      </p:sp>
      <p:sp>
        <p:nvSpPr>
          <p:cNvPr id="765" name="Google Shape;765;p45"/>
          <p:cNvSpPr/>
          <p:nvPr/>
        </p:nvSpPr>
        <p:spPr>
          <a:xfrm>
            <a:off x="3800475" y="3643313"/>
            <a:ext cx="185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172033"/>
                </a:solidFill>
              </a:rPr>
              <a:t>Measure the outcome</a:t>
            </a:r>
            <a:endParaRPr sz="1100"/>
          </a:p>
        </p:txBody>
      </p:sp>
      <p:sp>
        <p:nvSpPr>
          <p:cNvPr id="766" name="Google Shape;766;p45"/>
          <p:cNvSpPr/>
          <p:nvPr/>
        </p:nvSpPr>
        <p:spPr>
          <a:xfrm>
            <a:off x="3800475" y="3857625"/>
            <a:ext cx="32862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26174"/>
                </a:solidFill>
              </a:rPr>
              <a:t>Track results, learn, and refine the next decision cycle.</a:t>
            </a:r>
            <a:endParaRPr sz="1100"/>
          </a:p>
        </p:txBody>
      </p:sp>
      <p:sp>
        <p:nvSpPr>
          <p:cNvPr id="767" name="Google Shape;767;p45"/>
          <p:cNvSpPr/>
          <p:nvPr/>
        </p:nvSpPr>
        <p:spPr>
          <a:xfrm>
            <a:off x="3243263" y="4443413"/>
            <a:ext cx="5029200" cy="14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45"/>
          <p:cNvSpPr/>
          <p:nvPr/>
        </p:nvSpPr>
        <p:spPr>
          <a:xfrm>
            <a:off x="3243263" y="4557713"/>
            <a:ext cx="50721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The following recommendations apply this framework to Netflix’s customer-growth decisions.</a:t>
            </a:r>
            <a:endParaRPr sz="1100"/>
          </a:p>
        </p:txBody>
      </p:sp>
      <p:sp>
        <p:nvSpPr>
          <p:cNvPr id="769" name="Google Shape;769;p45"/>
          <p:cNvSpPr/>
          <p:nvPr/>
        </p:nvSpPr>
        <p:spPr>
          <a:xfrm>
            <a:off x="3243263" y="4957763"/>
            <a:ext cx="27861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00">
                <a:solidFill>
                  <a:srgbClr val="8290A5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770" name="Google Shape;770;p45"/>
          <p:cNvSpPr/>
          <p:nvPr/>
        </p:nvSpPr>
        <p:spPr>
          <a:xfrm>
            <a:off x="8072459" y="4972172"/>
            <a:ext cx="338700" cy="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8290A5"/>
                </a:solidFill>
              </a:rPr>
              <a:t>24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6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46"/>
          <p:cNvSpPr/>
          <p:nvPr/>
        </p:nvSpPr>
        <p:spPr>
          <a:xfrm>
            <a:off x="528638" y="371475"/>
            <a:ext cx="643200" cy="429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46"/>
          <p:cNvSpPr/>
          <p:nvPr/>
        </p:nvSpPr>
        <p:spPr>
          <a:xfrm>
            <a:off x="528638" y="585788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PRESCRIPTIVE ANALYTICS  |  RETENTION</a:t>
            </a:r>
            <a:endParaRPr sz="1100"/>
          </a:p>
        </p:txBody>
      </p:sp>
      <p:sp>
        <p:nvSpPr>
          <p:cNvPr id="779" name="Google Shape;779;p46"/>
          <p:cNvSpPr/>
          <p:nvPr/>
        </p:nvSpPr>
        <p:spPr>
          <a:xfrm>
            <a:off x="528638" y="842963"/>
            <a:ext cx="4643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Prioritize the revenue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most at risk</a:t>
            </a:r>
            <a:endParaRPr sz="1100"/>
          </a:p>
        </p:txBody>
      </p:sp>
      <p:sp>
        <p:nvSpPr>
          <p:cNvPr id="780" name="Google Shape;780;p46"/>
          <p:cNvSpPr/>
          <p:nvPr/>
        </p:nvSpPr>
        <p:spPr>
          <a:xfrm>
            <a:off x="528638" y="1528763"/>
            <a:ext cx="50007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26174"/>
                </a:solidFill>
              </a:rPr>
              <a:t>Churn probability and monthly subscription fees combine to estimate expected monthly revenue at risk.</a:t>
            </a:r>
            <a:endParaRPr sz="1100"/>
          </a:p>
        </p:txBody>
      </p:sp>
      <p:sp>
        <p:nvSpPr>
          <p:cNvPr id="781" name="Google Shape;781;p46"/>
          <p:cNvSpPr/>
          <p:nvPr/>
        </p:nvSpPr>
        <p:spPr>
          <a:xfrm>
            <a:off x="528638" y="2057400"/>
            <a:ext cx="5514900" cy="24003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46"/>
          <p:cNvSpPr/>
          <p:nvPr/>
        </p:nvSpPr>
        <p:spPr>
          <a:xfrm>
            <a:off x="707231" y="2207419"/>
            <a:ext cx="28575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EXPECTED MONTHLY REVENUE AT RISK</a:t>
            </a:r>
            <a:endParaRPr sz="1100"/>
          </a:p>
        </p:txBody>
      </p:sp>
      <p:pic>
        <p:nvPicPr>
          <p:cNvPr id="783" name="Google Shape;78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8721" y="2386013"/>
            <a:ext cx="3394808" cy="1985962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46"/>
          <p:cNvSpPr/>
          <p:nvPr/>
        </p:nvSpPr>
        <p:spPr>
          <a:xfrm>
            <a:off x="6257925" y="771525"/>
            <a:ext cx="2357700" cy="1543200"/>
          </a:xfrm>
          <a:prstGeom prst="roundRect">
            <a:avLst>
              <a:gd fmla="val 7407" name="adj"/>
            </a:avLst>
          </a:prstGeom>
          <a:solidFill>
            <a:srgbClr val="FBE5E7"/>
          </a:solidFill>
          <a:ln cap="flat" cmpd="sng" w="7150">
            <a:solidFill>
              <a:srgbClr val="F2C5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46"/>
          <p:cNvSpPr/>
          <p:nvPr/>
        </p:nvSpPr>
        <p:spPr>
          <a:xfrm>
            <a:off x="6465094" y="971550"/>
            <a:ext cx="1643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HIGH-RISK SEGMENT</a:t>
            </a:r>
            <a:endParaRPr sz="1100"/>
          </a:p>
        </p:txBody>
      </p:sp>
      <p:sp>
        <p:nvSpPr>
          <p:cNvPr id="786" name="Google Shape;786;p46"/>
          <p:cNvSpPr/>
          <p:nvPr/>
        </p:nvSpPr>
        <p:spPr>
          <a:xfrm>
            <a:off x="6465094" y="1185863"/>
            <a:ext cx="16431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$30,671</a:t>
            </a:r>
            <a:endParaRPr sz="1100"/>
          </a:p>
        </p:txBody>
      </p:sp>
      <p:sp>
        <p:nvSpPr>
          <p:cNvPr id="787" name="Google Shape;787;p46"/>
          <p:cNvSpPr/>
          <p:nvPr/>
        </p:nvSpPr>
        <p:spPr>
          <a:xfrm>
            <a:off x="6465094" y="1521619"/>
            <a:ext cx="1750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26174"/>
                </a:solidFill>
              </a:rPr>
              <a:t>expected monthly revenue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26174"/>
                </a:solidFill>
              </a:rPr>
              <a:t>at risk</a:t>
            </a:r>
            <a:endParaRPr sz="1100"/>
          </a:p>
        </p:txBody>
      </p:sp>
      <p:sp>
        <p:nvSpPr>
          <p:cNvPr id="788" name="Google Shape;788;p46"/>
          <p:cNvSpPr/>
          <p:nvPr/>
        </p:nvSpPr>
        <p:spPr>
          <a:xfrm>
            <a:off x="6257925" y="2500313"/>
            <a:ext cx="2357700" cy="1957500"/>
          </a:xfrm>
          <a:prstGeom prst="roundRect">
            <a:avLst>
              <a:gd fmla="val 5839" name="adj"/>
            </a:avLst>
          </a:prstGeom>
          <a:solidFill>
            <a:srgbClr val="FFFFFF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46"/>
          <p:cNvSpPr/>
          <p:nvPr/>
        </p:nvSpPr>
        <p:spPr>
          <a:xfrm>
            <a:off x="6465094" y="2686050"/>
            <a:ext cx="1500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RETENTION PRIORITY</a:t>
            </a:r>
            <a:endParaRPr sz="1100"/>
          </a:p>
        </p:txBody>
      </p:sp>
      <p:sp>
        <p:nvSpPr>
          <p:cNvPr id="790" name="Google Shape;790;p46"/>
          <p:cNvSpPr/>
          <p:nvPr/>
        </p:nvSpPr>
        <p:spPr>
          <a:xfrm>
            <a:off x="6447244" y="3043100"/>
            <a:ext cx="17859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72033"/>
                </a:solidFill>
              </a:rPr>
              <a:t>Start with the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72033"/>
                </a:solidFill>
              </a:rPr>
              <a:t>high-risk segment.</a:t>
            </a:r>
            <a:endParaRPr sz="1100"/>
          </a:p>
        </p:txBody>
      </p:sp>
      <p:sp>
        <p:nvSpPr>
          <p:cNvPr id="791" name="Google Shape;791;p46"/>
          <p:cNvSpPr/>
          <p:nvPr/>
        </p:nvSpPr>
        <p:spPr>
          <a:xfrm>
            <a:off x="6447244" y="3671675"/>
            <a:ext cx="167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26174"/>
                </a:solidFill>
              </a:rPr>
              <a:t>This group represents the largest concentration of estimated revenue at risk.</a:t>
            </a:r>
            <a:endParaRPr sz="1100"/>
          </a:p>
        </p:txBody>
      </p:sp>
      <p:sp>
        <p:nvSpPr>
          <p:cNvPr id="792" name="Google Shape;792;p46"/>
          <p:cNvSpPr/>
          <p:nvPr/>
        </p:nvSpPr>
        <p:spPr>
          <a:xfrm>
            <a:off x="528638" y="4650581"/>
            <a:ext cx="8086800" cy="14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46"/>
          <p:cNvSpPr/>
          <p:nvPr/>
        </p:nvSpPr>
        <p:spPr>
          <a:xfrm>
            <a:off x="528638" y="4750594"/>
            <a:ext cx="64293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Recommendation: direct retention outreach to high-risk subscribers first.</a:t>
            </a:r>
            <a:endParaRPr sz="1100"/>
          </a:p>
        </p:txBody>
      </p:sp>
      <p:sp>
        <p:nvSpPr>
          <p:cNvPr id="794" name="Google Shape;794;p46"/>
          <p:cNvSpPr/>
          <p:nvPr/>
        </p:nvSpPr>
        <p:spPr>
          <a:xfrm>
            <a:off x="528638" y="4964906"/>
            <a:ext cx="27861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00">
                <a:solidFill>
                  <a:srgbClr val="8290A5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795" name="Google Shape;795;p46"/>
          <p:cNvSpPr/>
          <p:nvPr/>
        </p:nvSpPr>
        <p:spPr>
          <a:xfrm>
            <a:off x="8250995" y="4922379"/>
            <a:ext cx="3645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8290A5"/>
                </a:solidFill>
              </a:rPr>
              <a:t>25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47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2" name="Google Shape;802;p47"/>
          <p:cNvSpPr/>
          <p:nvPr/>
        </p:nvSpPr>
        <p:spPr>
          <a:xfrm>
            <a:off x="528638" y="371475"/>
            <a:ext cx="643200" cy="429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47"/>
          <p:cNvSpPr/>
          <p:nvPr/>
        </p:nvSpPr>
        <p:spPr>
          <a:xfrm>
            <a:off x="528638" y="585788"/>
            <a:ext cx="31434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PRESCRIPTIVE ANALYTICS  |  UPGRADE</a:t>
            </a:r>
            <a:endParaRPr sz="1100"/>
          </a:p>
        </p:txBody>
      </p:sp>
      <p:sp>
        <p:nvSpPr>
          <p:cNvPr id="804" name="Google Shape;804;p47"/>
          <p:cNvSpPr/>
          <p:nvPr/>
        </p:nvSpPr>
        <p:spPr>
          <a:xfrm>
            <a:off x="528638" y="842963"/>
            <a:ext cx="4643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Identify the strongest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upgrade opportunities</a:t>
            </a:r>
            <a:endParaRPr sz="1100"/>
          </a:p>
        </p:txBody>
      </p:sp>
      <p:sp>
        <p:nvSpPr>
          <p:cNvPr id="805" name="Google Shape;805;p47"/>
          <p:cNvSpPr/>
          <p:nvPr/>
        </p:nvSpPr>
        <p:spPr>
          <a:xfrm>
            <a:off x="528638" y="1528763"/>
            <a:ext cx="50007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26174"/>
                </a:solidFill>
              </a:rPr>
              <a:t>Engagement per profile and household size help identify current subscribers who may be ready for more value.</a:t>
            </a:r>
            <a:endParaRPr sz="1100"/>
          </a:p>
        </p:txBody>
      </p:sp>
      <p:sp>
        <p:nvSpPr>
          <p:cNvPr id="806" name="Google Shape;806;p47"/>
          <p:cNvSpPr/>
          <p:nvPr/>
        </p:nvSpPr>
        <p:spPr>
          <a:xfrm>
            <a:off x="528638" y="2057400"/>
            <a:ext cx="5514900" cy="24003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47"/>
          <p:cNvSpPr/>
          <p:nvPr/>
        </p:nvSpPr>
        <p:spPr>
          <a:xfrm>
            <a:off x="707231" y="2207419"/>
            <a:ext cx="26433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UPGRADE CANDIDATE PATTERNS</a:t>
            </a:r>
            <a:endParaRPr sz="1100"/>
          </a:p>
        </p:txBody>
      </p:sp>
      <p:pic>
        <p:nvPicPr>
          <p:cNvPr id="808" name="Google Shape;80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7421" y="2386013"/>
            <a:ext cx="2737407" cy="1985962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47"/>
          <p:cNvSpPr/>
          <p:nvPr/>
        </p:nvSpPr>
        <p:spPr>
          <a:xfrm>
            <a:off x="6257925" y="771525"/>
            <a:ext cx="2357700" cy="1543200"/>
          </a:xfrm>
          <a:prstGeom prst="roundRect">
            <a:avLst>
              <a:gd fmla="val 7407" name="adj"/>
            </a:avLst>
          </a:prstGeom>
          <a:solidFill>
            <a:srgbClr val="EAF1F8"/>
          </a:solidFill>
          <a:ln cap="flat" cmpd="sng" w="7150">
            <a:solidFill>
              <a:srgbClr val="C9D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47"/>
          <p:cNvSpPr/>
          <p:nvPr/>
        </p:nvSpPr>
        <p:spPr>
          <a:xfrm>
            <a:off x="6393544" y="981425"/>
            <a:ext cx="1643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UPGRADE CANDIDATES</a:t>
            </a:r>
            <a:endParaRPr sz="1100"/>
          </a:p>
        </p:txBody>
      </p:sp>
      <p:sp>
        <p:nvSpPr>
          <p:cNvPr id="811" name="Google Shape;811;p47"/>
          <p:cNvSpPr/>
          <p:nvPr/>
        </p:nvSpPr>
        <p:spPr>
          <a:xfrm>
            <a:off x="6465094" y="1207294"/>
            <a:ext cx="16431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72033"/>
                </a:solidFill>
              </a:rPr>
              <a:t>ENGAGED</a:t>
            </a:r>
            <a:endParaRPr sz="1100"/>
          </a:p>
        </p:txBody>
      </p:sp>
      <p:sp>
        <p:nvSpPr>
          <p:cNvPr id="812" name="Google Shape;812;p47"/>
          <p:cNvSpPr/>
          <p:nvPr/>
        </p:nvSpPr>
        <p:spPr>
          <a:xfrm>
            <a:off x="6419776" y="1637738"/>
            <a:ext cx="203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26174"/>
                </a:solidFill>
              </a:rPr>
              <a:t>High watch hours per profile signal stronger potential for a plan upgrade.</a:t>
            </a:r>
            <a:endParaRPr sz="1100"/>
          </a:p>
        </p:txBody>
      </p:sp>
      <p:sp>
        <p:nvSpPr>
          <p:cNvPr id="813" name="Google Shape;813;p47"/>
          <p:cNvSpPr/>
          <p:nvPr/>
        </p:nvSpPr>
        <p:spPr>
          <a:xfrm>
            <a:off x="6257925" y="2503888"/>
            <a:ext cx="2357700" cy="1957500"/>
          </a:xfrm>
          <a:prstGeom prst="roundRect">
            <a:avLst>
              <a:gd fmla="val 5839" name="adj"/>
            </a:avLst>
          </a:prstGeom>
          <a:solidFill>
            <a:srgbClr val="FFFFFF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47"/>
          <p:cNvSpPr/>
          <p:nvPr/>
        </p:nvSpPr>
        <p:spPr>
          <a:xfrm>
            <a:off x="6465094" y="2686050"/>
            <a:ext cx="15000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UPGRADE PRIORITY</a:t>
            </a:r>
            <a:endParaRPr sz="1100"/>
          </a:p>
        </p:txBody>
      </p:sp>
      <p:sp>
        <p:nvSpPr>
          <p:cNvPr id="815" name="Google Shape;815;p47"/>
          <p:cNvSpPr/>
          <p:nvPr/>
        </p:nvSpPr>
        <p:spPr>
          <a:xfrm>
            <a:off x="6491025" y="3000450"/>
            <a:ext cx="18915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72033"/>
                </a:solidFill>
              </a:rPr>
              <a:t>Offer more value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72033"/>
                </a:solidFill>
              </a:rPr>
              <a:t>to engaged users</a:t>
            </a:r>
            <a:endParaRPr sz="1100"/>
          </a:p>
        </p:txBody>
      </p:sp>
      <p:sp>
        <p:nvSpPr>
          <p:cNvPr id="816" name="Google Shape;816;p47"/>
          <p:cNvSpPr/>
          <p:nvPr/>
        </p:nvSpPr>
        <p:spPr>
          <a:xfrm>
            <a:off x="6491025" y="3646863"/>
            <a:ext cx="20340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26174"/>
                </a:solidFill>
              </a:rPr>
              <a:t>Focus upgrade messages on current subscribers with strong engagement and multiple profiles.</a:t>
            </a:r>
            <a:endParaRPr sz="1100"/>
          </a:p>
        </p:txBody>
      </p:sp>
      <p:sp>
        <p:nvSpPr>
          <p:cNvPr id="817" name="Google Shape;817;p47"/>
          <p:cNvSpPr/>
          <p:nvPr/>
        </p:nvSpPr>
        <p:spPr>
          <a:xfrm>
            <a:off x="528638" y="4650581"/>
            <a:ext cx="8086800" cy="14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8" name="Google Shape;818;p47"/>
          <p:cNvSpPr/>
          <p:nvPr/>
        </p:nvSpPr>
        <p:spPr>
          <a:xfrm>
            <a:off x="528638" y="4750594"/>
            <a:ext cx="67866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Recommendation: personalize upgrade offers for engaged subscribers with multiple profiles.</a:t>
            </a:r>
            <a:endParaRPr sz="1100"/>
          </a:p>
        </p:txBody>
      </p:sp>
      <p:sp>
        <p:nvSpPr>
          <p:cNvPr id="819" name="Google Shape;819;p47"/>
          <p:cNvSpPr/>
          <p:nvPr/>
        </p:nvSpPr>
        <p:spPr>
          <a:xfrm>
            <a:off x="528638" y="4964906"/>
            <a:ext cx="27861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00">
                <a:solidFill>
                  <a:srgbClr val="8290A5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820" name="Google Shape;820;p47"/>
          <p:cNvSpPr/>
          <p:nvPr/>
        </p:nvSpPr>
        <p:spPr>
          <a:xfrm>
            <a:off x="8422472" y="4957771"/>
            <a:ext cx="275100" cy="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8290A5"/>
                </a:solidFill>
              </a:rPr>
              <a:t>26</a:t>
            </a:r>
            <a:endParaRPr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8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48"/>
          <p:cNvSpPr/>
          <p:nvPr/>
        </p:nvSpPr>
        <p:spPr>
          <a:xfrm>
            <a:off x="528638" y="371475"/>
            <a:ext cx="643200" cy="429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48"/>
          <p:cNvSpPr/>
          <p:nvPr/>
        </p:nvSpPr>
        <p:spPr>
          <a:xfrm>
            <a:off x="528638" y="585788"/>
            <a:ext cx="33576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PRESCRIPTIVE ANALYTICS  |  ACQUISITION</a:t>
            </a:r>
            <a:endParaRPr sz="1100"/>
          </a:p>
        </p:txBody>
      </p:sp>
      <p:sp>
        <p:nvSpPr>
          <p:cNvPr id="829" name="Google Shape;829;p48"/>
          <p:cNvSpPr/>
          <p:nvPr/>
        </p:nvSpPr>
        <p:spPr>
          <a:xfrm>
            <a:off x="528638" y="842963"/>
            <a:ext cx="46437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Attract the right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customers</a:t>
            </a:r>
            <a:endParaRPr sz="1100"/>
          </a:p>
        </p:txBody>
      </p:sp>
      <p:sp>
        <p:nvSpPr>
          <p:cNvPr id="830" name="Google Shape;830;p48"/>
          <p:cNvSpPr/>
          <p:nvPr/>
        </p:nvSpPr>
        <p:spPr>
          <a:xfrm>
            <a:off x="528638" y="1528763"/>
            <a:ext cx="50007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26174"/>
                </a:solidFill>
              </a:rPr>
              <a:t>Use the retained high-value customer profile to guide future acquisition targeting.</a:t>
            </a:r>
            <a:endParaRPr sz="1100"/>
          </a:p>
        </p:txBody>
      </p:sp>
      <p:sp>
        <p:nvSpPr>
          <p:cNvPr id="831" name="Google Shape;831;p48"/>
          <p:cNvSpPr/>
          <p:nvPr/>
        </p:nvSpPr>
        <p:spPr>
          <a:xfrm>
            <a:off x="528638" y="2057400"/>
            <a:ext cx="5514900" cy="24003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48"/>
          <p:cNvSpPr/>
          <p:nvPr/>
        </p:nvSpPr>
        <p:spPr>
          <a:xfrm>
            <a:off x="707231" y="2207419"/>
            <a:ext cx="31434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RETAINED HIGH-VALUE CUSTOMER PROFILE</a:t>
            </a:r>
            <a:endParaRPr sz="1100"/>
          </a:p>
        </p:txBody>
      </p:sp>
      <p:pic>
        <p:nvPicPr>
          <p:cNvPr id="833" name="Google Shape;83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1788" y="2386013"/>
            <a:ext cx="2888671" cy="1985961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48"/>
          <p:cNvSpPr/>
          <p:nvPr/>
        </p:nvSpPr>
        <p:spPr>
          <a:xfrm>
            <a:off x="6257925" y="771525"/>
            <a:ext cx="2357700" cy="1543200"/>
          </a:xfrm>
          <a:prstGeom prst="roundRect">
            <a:avLst>
              <a:gd fmla="val 7407" name="adj"/>
            </a:avLst>
          </a:prstGeom>
          <a:solidFill>
            <a:srgbClr val="EAF1F8"/>
          </a:solidFill>
          <a:ln cap="flat" cmpd="sng" w="7150">
            <a:solidFill>
              <a:srgbClr val="C9D9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48"/>
          <p:cNvSpPr/>
          <p:nvPr/>
        </p:nvSpPr>
        <p:spPr>
          <a:xfrm>
            <a:off x="6465094" y="971550"/>
            <a:ext cx="16431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TARGET PROFILE</a:t>
            </a:r>
            <a:endParaRPr sz="1100"/>
          </a:p>
        </p:txBody>
      </p:sp>
      <p:sp>
        <p:nvSpPr>
          <p:cNvPr id="836" name="Google Shape;836;p48"/>
          <p:cNvSpPr/>
          <p:nvPr/>
        </p:nvSpPr>
        <p:spPr>
          <a:xfrm>
            <a:off x="6465094" y="1207294"/>
            <a:ext cx="16431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72033"/>
                </a:solidFill>
              </a:rPr>
              <a:t>PREMIUM</a:t>
            </a:r>
            <a:endParaRPr sz="1100"/>
          </a:p>
        </p:txBody>
      </p:sp>
      <p:sp>
        <p:nvSpPr>
          <p:cNvPr id="837" name="Google Shape;837;p48"/>
          <p:cNvSpPr/>
          <p:nvPr/>
        </p:nvSpPr>
        <p:spPr>
          <a:xfrm>
            <a:off x="6465094" y="1514475"/>
            <a:ext cx="182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526174"/>
                </a:solidFill>
              </a:rPr>
              <a:t>Retained high-value customers cluster in the highest monthly-fee tier.</a:t>
            </a:r>
            <a:endParaRPr sz="1100"/>
          </a:p>
        </p:txBody>
      </p:sp>
      <p:sp>
        <p:nvSpPr>
          <p:cNvPr id="838" name="Google Shape;838;p48"/>
          <p:cNvSpPr/>
          <p:nvPr/>
        </p:nvSpPr>
        <p:spPr>
          <a:xfrm>
            <a:off x="6257925" y="2500313"/>
            <a:ext cx="2357700" cy="1957500"/>
          </a:xfrm>
          <a:prstGeom prst="roundRect">
            <a:avLst>
              <a:gd fmla="val 5839" name="adj"/>
            </a:avLst>
          </a:prstGeom>
          <a:solidFill>
            <a:srgbClr val="FFFFFF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48"/>
          <p:cNvSpPr/>
          <p:nvPr/>
        </p:nvSpPr>
        <p:spPr>
          <a:xfrm>
            <a:off x="6465094" y="2686050"/>
            <a:ext cx="1643100" cy="13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ACQUISITION PRIORITY</a:t>
            </a:r>
            <a:endParaRPr sz="1100"/>
          </a:p>
        </p:txBody>
      </p:sp>
      <p:sp>
        <p:nvSpPr>
          <p:cNvPr id="840" name="Google Shape;840;p48"/>
          <p:cNvSpPr/>
          <p:nvPr/>
        </p:nvSpPr>
        <p:spPr>
          <a:xfrm>
            <a:off x="6465094" y="2928938"/>
            <a:ext cx="1785900" cy="40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72033"/>
                </a:solidFill>
              </a:rPr>
              <a:t>Find similar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72033"/>
                </a:solidFill>
              </a:rPr>
              <a:t>customers.</a:t>
            </a:r>
            <a:endParaRPr sz="1100"/>
          </a:p>
        </p:txBody>
      </p:sp>
      <p:sp>
        <p:nvSpPr>
          <p:cNvPr id="841" name="Google Shape;841;p48"/>
          <p:cNvSpPr/>
          <p:nvPr/>
        </p:nvSpPr>
        <p:spPr>
          <a:xfrm>
            <a:off x="6465094" y="3486150"/>
            <a:ext cx="1785900" cy="4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26174"/>
                </a:solidFill>
              </a:rPr>
              <a:t>Use high-value customer attributes to inform audience targeting, creative, and channel selection.</a:t>
            </a:r>
            <a:endParaRPr sz="1100"/>
          </a:p>
        </p:txBody>
      </p:sp>
      <p:sp>
        <p:nvSpPr>
          <p:cNvPr id="842" name="Google Shape;842;p48"/>
          <p:cNvSpPr/>
          <p:nvPr/>
        </p:nvSpPr>
        <p:spPr>
          <a:xfrm>
            <a:off x="528638" y="4650581"/>
            <a:ext cx="8086800" cy="14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48"/>
          <p:cNvSpPr/>
          <p:nvPr/>
        </p:nvSpPr>
        <p:spPr>
          <a:xfrm>
            <a:off x="528638" y="4750594"/>
            <a:ext cx="67866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Recommendation: use retained high-value profiles to improve acquisition targeting.</a:t>
            </a:r>
            <a:endParaRPr sz="1100"/>
          </a:p>
        </p:txBody>
      </p:sp>
      <p:sp>
        <p:nvSpPr>
          <p:cNvPr id="844" name="Google Shape;844;p48"/>
          <p:cNvSpPr/>
          <p:nvPr/>
        </p:nvSpPr>
        <p:spPr>
          <a:xfrm>
            <a:off x="528638" y="4964906"/>
            <a:ext cx="27861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00">
                <a:solidFill>
                  <a:srgbClr val="8290A5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845" name="Google Shape;845;p48"/>
          <p:cNvSpPr/>
          <p:nvPr/>
        </p:nvSpPr>
        <p:spPr>
          <a:xfrm>
            <a:off x="8422471" y="4957772"/>
            <a:ext cx="314700" cy="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8290A5"/>
                </a:solidFill>
              </a:rPr>
              <a:t>27</a:t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8FA"/>
        </a:solidFill>
      </p:bgPr>
    </p:bg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49"/>
          <p:cNvSpPr/>
          <p:nvPr/>
        </p:nvSpPr>
        <p:spPr>
          <a:xfrm>
            <a:off x="0" y="0"/>
            <a:ext cx="9144000" cy="858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49"/>
          <p:cNvSpPr/>
          <p:nvPr/>
        </p:nvSpPr>
        <p:spPr>
          <a:xfrm>
            <a:off x="528638" y="371475"/>
            <a:ext cx="643200" cy="429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49"/>
          <p:cNvSpPr/>
          <p:nvPr/>
        </p:nvSpPr>
        <p:spPr>
          <a:xfrm>
            <a:off x="528638" y="585788"/>
            <a:ext cx="35718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DEPLOYMENT  |  PUTTING THE STRATEGY TO WORK</a:t>
            </a:r>
            <a:endParaRPr sz="1100"/>
          </a:p>
        </p:txBody>
      </p:sp>
      <p:sp>
        <p:nvSpPr>
          <p:cNvPr id="854" name="Google Shape;854;p49"/>
          <p:cNvSpPr/>
          <p:nvPr/>
        </p:nvSpPr>
        <p:spPr>
          <a:xfrm>
            <a:off x="528638" y="842963"/>
            <a:ext cx="45720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From insight to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172033"/>
                </a:solidFill>
              </a:rPr>
              <a:t>customer action</a:t>
            </a:r>
            <a:endParaRPr sz="1100"/>
          </a:p>
        </p:txBody>
      </p:sp>
      <p:sp>
        <p:nvSpPr>
          <p:cNvPr id="855" name="Google Shape;855;p49"/>
          <p:cNvSpPr/>
          <p:nvPr/>
        </p:nvSpPr>
        <p:spPr>
          <a:xfrm>
            <a:off x="528638" y="1528763"/>
            <a:ext cx="54291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>
                <a:solidFill>
                  <a:srgbClr val="526174"/>
                </a:solidFill>
              </a:rPr>
              <a:t>Operationalize churn-risk scores by assigning customers to the right action and reviewing results each month.</a:t>
            </a:r>
            <a:endParaRPr sz="1100"/>
          </a:p>
        </p:txBody>
      </p:sp>
      <p:sp>
        <p:nvSpPr>
          <p:cNvPr id="856" name="Google Shape;856;p49"/>
          <p:cNvSpPr/>
          <p:nvPr/>
        </p:nvSpPr>
        <p:spPr>
          <a:xfrm>
            <a:off x="2343150" y="2914650"/>
            <a:ext cx="414600" cy="28500"/>
          </a:xfrm>
          <a:prstGeom prst="rect">
            <a:avLst/>
          </a:prstGeom>
          <a:solidFill>
            <a:srgbClr val="CDD7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49"/>
          <p:cNvSpPr/>
          <p:nvPr/>
        </p:nvSpPr>
        <p:spPr>
          <a:xfrm>
            <a:off x="4572000" y="2914650"/>
            <a:ext cx="414600" cy="28500"/>
          </a:xfrm>
          <a:prstGeom prst="rect">
            <a:avLst/>
          </a:prstGeom>
          <a:solidFill>
            <a:srgbClr val="CDD7E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49"/>
          <p:cNvSpPr/>
          <p:nvPr/>
        </p:nvSpPr>
        <p:spPr>
          <a:xfrm>
            <a:off x="528638" y="2271713"/>
            <a:ext cx="1943100" cy="1400100"/>
          </a:xfrm>
          <a:prstGeom prst="roundRect">
            <a:avLst>
              <a:gd fmla="val 8163" name="adj"/>
            </a:avLst>
          </a:prstGeom>
          <a:solidFill>
            <a:srgbClr val="EAF1F8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49"/>
          <p:cNvSpPr/>
          <p:nvPr/>
        </p:nvSpPr>
        <p:spPr>
          <a:xfrm>
            <a:off x="700088" y="2428875"/>
            <a:ext cx="3573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315A8A"/>
                </a:solidFill>
              </a:rPr>
              <a:t>01</a:t>
            </a:r>
            <a:endParaRPr sz="1100"/>
          </a:p>
        </p:txBody>
      </p:sp>
      <p:sp>
        <p:nvSpPr>
          <p:cNvPr id="860" name="Google Shape;860;p49"/>
          <p:cNvSpPr/>
          <p:nvPr/>
        </p:nvSpPr>
        <p:spPr>
          <a:xfrm>
            <a:off x="700088" y="2714625"/>
            <a:ext cx="15717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72033"/>
                </a:solidFill>
              </a:rPr>
              <a:t>Score customers</a:t>
            </a:r>
            <a:endParaRPr sz="1100"/>
          </a:p>
        </p:txBody>
      </p:sp>
      <p:sp>
        <p:nvSpPr>
          <p:cNvPr id="861" name="Google Shape;861;p49"/>
          <p:cNvSpPr/>
          <p:nvPr/>
        </p:nvSpPr>
        <p:spPr>
          <a:xfrm>
            <a:off x="700088" y="3021806"/>
            <a:ext cx="1571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26174"/>
                </a:solidFill>
              </a:rPr>
              <a:t>Refresh churn-risk scores and group subscribers by low, medium, and high risk.</a:t>
            </a:r>
            <a:endParaRPr sz="1100"/>
          </a:p>
        </p:txBody>
      </p:sp>
      <p:sp>
        <p:nvSpPr>
          <p:cNvPr id="862" name="Google Shape;862;p49"/>
          <p:cNvSpPr/>
          <p:nvPr/>
        </p:nvSpPr>
        <p:spPr>
          <a:xfrm>
            <a:off x="2757488" y="2271713"/>
            <a:ext cx="1943100" cy="1400100"/>
          </a:xfrm>
          <a:prstGeom prst="roundRect">
            <a:avLst>
              <a:gd fmla="val 8163" name="adj"/>
            </a:avLst>
          </a:prstGeom>
          <a:solidFill>
            <a:srgbClr val="FBE5E7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49"/>
          <p:cNvSpPr/>
          <p:nvPr/>
        </p:nvSpPr>
        <p:spPr>
          <a:xfrm>
            <a:off x="2928938" y="2428875"/>
            <a:ext cx="3573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E50914"/>
                </a:solidFill>
              </a:rPr>
              <a:t>02</a:t>
            </a:r>
            <a:endParaRPr sz="1100"/>
          </a:p>
        </p:txBody>
      </p:sp>
      <p:sp>
        <p:nvSpPr>
          <p:cNvPr id="864" name="Google Shape;864;p49"/>
          <p:cNvSpPr/>
          <p:nvPr/>
        </p:nvSpPr>
        <p:spPr>
          <a:xfrm>
            <a:off x="2928938" y="2714625"/>
            <a:ext cx="15717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72033"/>
                </a:solidFill>
              </a:rPr>
              <a:t>Activate outreach</a:t>
            </a:r>
            <a:endParaRPr sz="1100"/>
          </a:p>
        </p:txBody>
      </p:sp>
      <p:sp>
        <p:nvSpPr>
          <p:cNvPr id="865" name="Google Shape;865;p49"/>
          <p:cNvSpPr/>
          <p:nvPr/>
        </p:nvSpPr>
        <p:spPr>
          <a:xfrm>
            <a:off x="2928938" y="3021806"/>
            <a:ext cx="1571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26174"/>
                </a:solidFill>
              </a:rPr>
              <a:t>Match each group to a retention, upgrade, or acquisition action.</a:t>
            </a:r>
            <a:endParaRPr sz="1100"/>
          </a:p>
        </p:txBody>
      </p:sp>
      <p:sp>
        <p:nvSpPr>
          <p:cNvPr id="866" name="Google Shape;866;p49"/>
          <p:cNvSpPr/>
          <p:nvPr/>
        </p:nvSpPr>
        <p:spPr>
          <a:xfrm>
            <a:off x="4986338" y="2271713"/>
            <a:ext cx="1943100" cy="1400100"/>
          </a:xfrm>
          <a:prstGeom prst="roundRect">
            <a:avLst>
              <a:gd fmla="val 8163" name="adj"/>
            </a:avLst>
          </a:prstGeom>
          <a:solidFill>
            <a:srgbClr val="E8F4EE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49"/>
          <p:cNvSpPr/>
          <p:nvPr/>
        </p:nvSpPr>
        <p:spPr>
          <a:xfrm>
            <a:off x="5157788" y="2428875"/>
            <a:ext cx="3573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23724A"/>
                </a:solidFill>
              </a:rPr>
              <a:t>03</a:t>
            </a:r>
            <a:endParaRPr sz="1100"/>
          </a:p>
        </p:txBody>
      </p:sp>
      <p:sp>
        <p:nvSpPr>
          <p:cNvPr id="868" name="Google Shape;868;p49"/>
          <p:cNvSpPr/>
          <p:nvPr/>
        </p:nvSpPr>
        <p:spPr>
          <a:xfrm>
            <a:off x="5157788" y="2714625"/>
            <a:ext cx="15717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72033"/>
                </a:solidFill>
              </a:rPr>
              <a:t>Measure &amp; refine</a:t>
            </a:r>
            <a:endParaRPr sz="1100"/>
          </a:p>
        </p:txBody>
      </p:sp>
      <p:sp>
        <p:nvSpPr>
          <p:cNvPr id="869" name="Google Shape;869;p49"/>
          <p:cNvSpPr/>
          <p:nvPr/>
        </p:nvSpPr>
        <p:spPr>
          <a:xfrm>
            <a:off x="5157788" y="3021806"/>
            <a:ext cx="15717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>
                <a:solidFill>
                  <a:srgbClr val="526174"/>
                </a:solidFill>
              </a:rPr>
              <a:t>Review results monthly and improve targeting, offers, and messages.</a:t>
            </a:r>
            <a:endParaRPr sz="1100"/>
          </a:p>
        </p:txBody>
      </p:sp>
      <p:sp>
        <p:nvSpPr>
          <p:cNvPr id="870" name="Google Shape;870;p49"/>
          <p:cNvSpPr/>
          <p:nvPr/>
        </p:nvSpPr>
        <p:spPr>
          <a:xfrm>
            <a:off x="7143750" y="2271713"/>
            <a:ext cx="1471800" cy="1400100"/>
          </a:xfrm>
          <a:prstGeom prst="roundRect">
            <a:avLst>
              <a:gd fmla="val 8163" name="adj"/>
            </a:avLst>
          </a:prstGeom>
          <a:solidFill>
            <a:srgbClr val="172033"/>
          </a:solidFill>
          <a:ln cap="flat" cmpd="sng" w="7150">
            <a:solidFill>
              <a:srgbClr val="1720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49"/>
          <p:cNvSpPr/>
          <p:nvPr/>
        </p:nvSpPr>
        <p:spPr>
          <a:xfrm>
            <a:off x="7322344" y="2428875"/>
            <a:ext cx="1071600" cy="1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FFFFFF"/>
                </a:solidFill>
              </a:rPr>
              <a:t>MONITOR</a:t>
            </a:r>
            <a:endParaRPr sz="1100"/>
          </a:p>
        </p:txBody>
      </p:sp>
      <p:sp>
        <p:nvSpPr>
          <p:cNvPr id="872" name="Google Shape;872;p49"/>
          <p:cNvSpPr/>
          <p:nvPr/>
        </p:nvSpPr>
        <p:spPr>
          <a:xfrm>
            <a:off x="7286794" y="2614563"/>
            <a:ext cx="10716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</a:rPr>
              <a:t>4 core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</a:rPr>
              <a:t>KPIs</a:t>
            </a:r>
            <a:endParaRPr sz="1100"/>
          </a:p>
        </p:txBody>
      </p:sp>
      <p:sp>
        <p:nvSpPr>
          <p:cNvPr id="873" name="Google Shape;873;p49"/>
          <p:cNvSpPr/>
          <p:nvPr/>
        </p:nvSpPr>
        <p:spPr>
          <a:xfrm>
            <a:off x="7308144" y="3143125"/>
            <a:ext cx="11430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8E3F2"/>
                </a:solidFill>
              </a:rPr>
              <a:t>Churn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8E3F2"/>
                </a:solidFill>
              </a:rPr>
              <a:t>Conversion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8E3F2"/>
                </a:solidFill>
              </a:rPr>
              <a:t>Revenue retained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D8E3F2"/>
                </a:solidFill>
              </a:rPr>
              <a:t>Campaign response</a:t>
            </a:r>
            <a:endParaRPr sz="1100"/>
          </a:p>
        </p:txBody>
      </p:sp>
      <p:sp>
        <p:nvSpPr>
          <p:cNvPr id="874" name="Google Shape;874;p49"/>
          <p:cNvSpPr/>
          <p:nvPr/>
        </p:nvSpPr>
        <p:spPr>
          <a:xfrm>
            <a:off x="528638" y="4000500"/>
            <a:ext cx="8086800" cy="457200"/>
          </a:xfrm>
          <a:prstGeom prst="roundRect">
            <a:avLst>
              <a:gd fmla="val 25000" name="adj"/>
            </a:avLst>
          </a:prstGeom>
          <a:solidFill>
            <a:srgbClr val="FFFFFF"/>
          </a:solidFill>
          <a:ln cap="flat" cmpd="sng" w="7150">
            <a:solidFill>
              <a:srgbClr val="DCE3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49"/>
          <p:cNvSpPr/>
          <p:nvPr/>
        </p:nvSpPr>
        <p:spPr>
          <a:xfrm>
            <a:off x="707231" y="4114800"/>
            <a:ext cx="12144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rgbClr val="E50914"/>
                </a:solidFill>
              </a:rPr>
              <a:t>Deployment goal</a:t>
            </a:r>
            <a:endParaRPr sz="1100"/>
          </a:p>
        </p:txBody>
      </p:sp>
      <p:sp>
        <p:nvSpPr>
          <p:cNvPr id="876" name="Google Shape;876;p49"/>
          <p:cNvSpPr/>
          <p:nvPr/>
        </p:nvSpPr>
        <p:spPr>
          <a:xfrm>
            <a:off x="707231" y="4271963"/>
            <a:ext cx="6715200" cy="1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72033"/>
                </a:solidFill>
              </a:rPr>
              <a:t>Turn model insights into measurable customer actions—and continuously improve them with results.</a:t>
            </a:r>
            <a:endParaRPr sz="1100"/>
          </a:p>
        </p:txBody>
      </p:sp>
      <p:sp>
        <p:nvSpPr>
          <p:cNvPr id="877" name="Google Shape;877;p49"/>
          <p:cNvSpPr/>
          <p:nvPr/>
        </p:nvSpPr>
        <p:spPr>
          <a:xfrm>
            <a:off x="528638" y="4650581"/>
            <a:ext cx="8086800" cy="14400"/>
          </a:xfrm>
          <a:prstGeom prst="rect">
            <a:avLst/>
          </a:prstGeom>
          <a:solidFill>
            <a:srgbClr val="E5091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49"/>
          <p:cNvSpPr/>
          <p:nvPr/>
        </p:nvSpPr>
        <p:spPr>
          <a:xfrm>
            <a:off x="528638" y="4964906"/>
            <a:ext cx="2786100" cy="1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600">
                <a:solidFill>
                  <a:srgbClr val="8290A5"/>
                </a:solidFill>
              </a:rPr>
              <a:t>Netflix Customer Retention and Growth Strategy</a:t>
            </a:r>
            <a:endParaRPr sz="1100"/>
          </a:p>
        </p:txBody>
      </p:sp>
      <p:sp>
        <p:nvSpPr>
          <p:cNvPr id="879" name="Google Shape;879;p49"/>
          <p:cNvSpPr/>
          <p:nvPr/>
        </p:nvSpPr>
        <p:spPr>
          <a:xfrm>
            <a:off x="8393950" y="4972175"/>
            <a:ext cx="303600" cy="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rgbClr val="8290A5"/>
                </a:solidFill>
              </a:rPr>
              <a:t>28</a:t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6" name="Google Shape;886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50"/>
          <p:cNvSpPr txBox="1"/>
          <p:nvPr/>
        </p:nvSpPr>
        <p:spPr>
          <a:xfrm>
            <a:off x="4572000" y="4727675"/>
            <a:ext cx="3518400" cy="3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2"/>
                </a:solidFill>
              </a:rPr>
              <a:t>AI Disclosure: AI was used to help brainstorm ideas; all final analysis, content, and presentation materials were created and reviewed by our team.</a:t>
            </a:r>
            <a:endParaRPr sz="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